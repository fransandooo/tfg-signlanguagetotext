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TT Interphases Bold" charset="1" panose="02000803060000020004"/>
      <p:regular r:id="rId33"/>
    </p:embeddedFont>
    <p:embeddedFont>
      <p:font typeface="Open Sans 1 Bold" charset="1" panose="00000000000000000000"/>
      <p:regular r:id="rId34"/>
    </p:embeddedFont>
    <p:embeddedFont>
      <p:font typeface="Open Sans 1" charset="1" panose="00000000000000000000"/>
      <p:regular r:id="rId35"/>
    </p:embeddedFont>
    <p:embeddedFont>
      <p:font typeface="Open Sans 1 Italics" charset="1" panose="00000000000000000000"/>
      <p:regular r:id="rId39"/>
    </p:embeddedFont>
    <p:embeddedFont>
      <p:font typeface="Open Sans 1 Bold Italics" charset="1" panose="00000000000000000000"/>
      <p:regular r:id="rId40"/>
    </p:embeddedFont>
    <p:embeddedFont>
      <p:font typeface="Open Sans 2 Bold" charset="1" panose="020B0806030504020204"/>
      <p:regular r:id="rId42"/>
    </p:embeddedFont>
    <p:embeddedFont>
      <p:font typeface="Open Sans 2" charset="1" panose="020B0606030504020204"/>
      <p:regular r:id="rId43"/>
    </p:embeddedFont>
    <p:embeddedFont>
      <p:font typeface="Open Sans 2 Italics" charset="1" panose="020B0606030504020204"/>
      <p:regular r:id="rId47"/>
    </p:embeddedFont>
    <p:embeddedFont>
      <p:font typeface="Open Sans 2 Bold Italics" charset="1" panose="020B0806030504020204"/>
      <p:regular r:id="rId48"/>
    </p:embeddedFont>
    <p:embeddedFont>
      <p:font typeface="TT Interphases" charset="1" panose="02000503020000020004"/>
      <p:regular r:id="rId5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5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notesSlides/notesSlide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0.xml" Type="http://schemas.openxmlformats.org/officeDocument/2006/relationships/notesSlide"/><Relationship Id="rId51" Target="notesSlides/notesSlide11.xml" Type="http://schemas.openxmlformats.org/officeDocument/2006/relationships/notesSlide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notesSlides/notesSlide14.xml" Type="http://schemas.openxmlformats.org/officeDocument/2006/relationships/notesSlide"/><Relationship Id="rId55" Target="notesSlides/notesSlide15.xml" Type="http://schemas.openxmlformats.org/officeDocument/2006/relationships/notesSlide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Quitar presented</a:t>
            </a:r>
          </a:p>
          <a:p>
            <a:r>
              <a:rPr lang="en-US"/>
              <a:t/>
            </a:r>
          </a:p>
          <a:p>
            <a:r>
              <a:rPr lang="en-US"/>
              <a:t>Todo titulo en negrita</a:t>
            </a:r>
          </a:p>
          <a:p>
            <a:r>
              <a:rPr lang="en-US"/>
              <a:t/>
            </a:r>
          </a:p>
          <a:p>
            <a:r>
              <a:rPr lang="en-US"/>
              <a:t>Nombre moises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05 technical research</a:t>
            </a:r>
          </a:p>
          <a:p>
            <a:r>
              <a:rPr lang="en-US"/>
              <a:t>06 evaluation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La solucion no vuelva a decir el problema, simplemente decir "construir herramienta movil.."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HACER HIPOTESIS MAS GRANDE</a:t>
            </a:r>
          </a:p>
          <a:p>
            <a:r>
              <a:rPr lang="en-US"/>
              <a:t/>
            </a:r>
          </a:p>
          <a:p>
            <a:r>
              <a:rPr lang="en-US"/>
              <a:t>METER GIF DE SIGNO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MVP NO SUBMISSION</a:t>
            </a:r>
          </a:p>
          <a:p>
            <a:r>
              <a:rPr lang="en-US"/>
              <a:t/>
            </a:r>
          </a:p>
          <a:p>
            <a:r>
              <a:rPr lang="en-US"/>
              <a:t>SUBDIVIDIDA EN DOS </a:t>
            </a:r>
          </a:p>
          <a:p>
            <a:r>
              <a:rPr lang="en-US"/>
              <a:t/>
            </a:r>
          </a:p>
          <a:p>
            <a:r>
              <a:rPr lang="en-US"/>
              <a:t>DEMUESTRA TU TRABAJO LOS TIEMPOS DE VERDAD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MVP NO SUBMISSION</a:t>
            </a:r>
          </a:p>
          <a:p>
            <a:r>
              <a:rPr lang="en-US"/>
              <a:t/>
            </a:r>
          </a:p>
          <a:p>
            <a:r>
              <a:rPr lang="en-US"/>
              <a:t>SUBDIVIDIDA EN DOS </a:t>
            </a:r>
          </a:p>
          <a:p>
            <a:r>
              <a:rPr lang="en-US"/>
              <a:t/>
            </a:r>
          </a:p>
          <a:p>
            <a:r>
              <a:rPr lang="en-US"/>
              <a:t>DEMUESTRA TU TRABAJO LOS TIEMPOS DE VERDAD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COMO EN INFERENCE PERO UNA IMAGEN ESTATICA</a:t>
            </a:r>
          </a:p>
          <a:p>
            <a:r>
              <a:rPr lang="en-US"/>
              <a:t/>
            </a:r>
          </a:p>
          <a:p>
            <a:r>
              <a:rPr lang="en-US"/>
              <a:t>MOVERLA UN POCO Y PONER MODEL REGESTRY DONDE EL BEST MODEL PT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HACER TAMAÑO DE TODO IGUAL</a:t>
            </a:r>
          </a:p>
          <a:p>
            <a:r>
              <a:rPr lang="en-US"/>
              <a:t/>
            </a:r>
          </a:p>
          <a:p>
            <a:r>
              <a:rPr lang="en-US"/>
              <a:t>PONER LO QUE HE ENSEÑADO AL PRINCIPIO EN CADA FASE DE VERDAD QUE SEA VEA UN VIDEO, LOS FRAMES Y DEMAS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LUCIR ESPECIFICOS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EN NEGRITA LAS QUE HAN GANADO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EN NEGRITA LAS QUE HAN GANADO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EN NEGRITA LAS QUE HAN GANADO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EN NEGRITA LAS QUE HAN GANADO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PONER EN NEGRITA LAS QUE HAN GANADO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COJER LAS MISMAS DIMENSIONES QUE YA HE EXPLICADO EN TECHNICAL DEVELOPMENT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HACER MAS GRANDE LA CAJA NARANJA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METER:</a:t>
            </a:r>
          </a:p>
          <a:p>
            <a:r>
              <a:rPr lang="en-US"/>
              <a:t/>
            </a:r>
          </a:p>
          <a:p>
            <a:r>
              <a:rPr lang="en-US"/>
              <a:t>COMPARARME CON LOS OTROS MODELOS EN UN ENTORNO QUE LOS OTROS MODELOS SE PUEDAN EJECUTAR, GPUS MAS GRANDES</a:t>
            </a:r>
          </a:p>
          <a:p>
            <a:r>
              <a:rPr lang="en-US"/>
              <a:t/>
            </a:r>
          </a:p>
          <a:p>
            <a:r>
              <a:rPr lang="en-US"/>
              <a:t>EN LA DE TECHNICAL METER LO DE MINIATURIZAR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jpeg" Type="http://schemas.openxmlformats.org/officeDocument/2006/relationships/image"/><Relationship Id="rId11" Target="../media/VAHJ9TFAqLE.mp4" Type="http://schemas.openxmlformats.org/officeDocument/2006/relationships/video"/><Relationship Id="rId12" Target="../media/VAHJ9TFAqLE.mp4" Type="http://schemas.microsoft.com/office/2007/relationships/media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5.jpeg" Type="http://schemas.openxmlformats.org/officeDocument/2006/relationships/image"/><Relationship Id="rId5" Target="../media/VAHJ9VVxgmw.mp4" Type="http://schemas.openxmlformats.org/officeDocument/2006/relationships/video"/><Relationship Id="rId6" Target="../media/VAHJ9VVxgmw.mp4" Type="http://schemas.microsoft.com/office/2007/relationships/media"/><Relationship Id="rId7" Target="../media/image6.jpeg" Type="http://schemas.openxmlformats.org/officeDocument/2006/relationships/image"/><Relationship Id="rId8" Target="../media/VAHJ9Xb9rqw.mp4" Type="http://schemas.openxmlformats.org/officeDocument/2006/relationships/video"/><Relationship Id="rId9" Target="../media/VAHJ9Xb9rqw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VAHKGi0Fs_k.mp4" Type="http://schemas.openxmlformats.org/officeDocument/2006/relationships/video"/><Relationship Id="rId4" Target="../media/VAHKGi0Fs_k.mp4" Type="http://schemas.microsoft.com/office/2007/relationships/media"/><Relationship Id="rId5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3671" y="2498139"/>
            <a:ext cx="10751259" cy="8229600"/>
          </a:xfrm>
          <a:custGeom>
            <a:avLst/>
            <a:gdLst/>
            <a:ahLst/>
            <a:cxnLst/>
            <a:rect r="r" b="b" t="t" l="l"/>
            <a:pathLst>
              <a:path h="8229600" w="10751259">
                <a:moveTo>
                  <a:pt x="0" y="0"/>
                </a:moveTo>
                <a:lnTo>
                  <a:pt x="10751258" y="0"/>
                </a:lnTo>
                <a:lnTo>
                  <a:pt x="10751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487272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4105928"/>
            <a:ext cx="16999587" cy="236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9965" spc="-259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Word-Level ASL Recognition </a:t>
            </a:r>
          </a:p>
          <a:p>
            <a:pPr algn="l" marL="0" indent="0" lvl="0">
              <a:lnSpc>
                <a:spcPts val="8969"/>
              </a:lnSpc>
            </a:pPr>
            <a:r>
              <a:rPr lang="en-US" b="true" sz="9965" spc="-259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from Hand Landmarks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46407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b="true" sz="2599" spc="-67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Author: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17120"/>
            <a:ext cx="46407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Francisco Sandoval Hernández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34101" y="9080812"/>
            <a:ext cx="46407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b="true" sz="2599" spc="-67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Tutor: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4101" y="9578757"/>
            <a:ext cx="46407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Dr. Moisés Martínez Muñoz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489237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494406" y="6201680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1" y="0"/>
                </a:lnTo>
                <a:lnTo>
                  <a:pt x="7336951" y="5616102"/>
                </a:lnTo>
                <a:lnTo>
                  <a:pt x="0" y="56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30755" y="1489323"/>
            <a:ext cx="7163651" cy="4429464"/>
            <a:chOff x="0" y="0"/>
            <a:chExt cx="1886723" cy="1166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86723" cy="1166608"/>
            </a:xfrm>
            <a:custGeom>
              <a:avLst/>
              <a:gdLst/>
              <a:ahLst/>
              <a:cxnLst/>
              <a:rect r="r" b="b" t="t" l="l"/>
              <a:pathLst>
                <a:path h="1166608" w="1886723">
                  <a:moveTo>
                    <a:pt x="15130" y="0"/>
                  </a:moveTo>
                  <a:lnTo>
                    <a:pt x="1871593" y="0"/>
                  </a:lnTo>
                  <a:cubicBezTo>
                    <a:pt x="1875606" y="0"/>
                    <a:pt x="1879454" y="1594"/>
                    <a:pt x="1882292" y="4432"/>
                  </a:cubicBezTo>
                  <a:cubicBezTo>
                    <a:pt x="1885129" y="7269"/>
                    <a:pt x="1886723" y="11117"/>
                    <a:pt x="1886723" y="15130"/>
                  </a:cubicBezTo>
                  <a:lnTo>
                    <a:pt x="1886723" y="1151478"/>
                  </a:lnTo>
                  <a:cubicBezTo>
                    <a:pt x="1886723" y="1155490"/>
                    <a:pt x="1885129" y="1159339"/>
                    <a:pt x="1882292" y="1162176"/>
                  </a:cubicBezTo>
                  <a:cubicBezTo>
                    <a:pt x="1879454" y="1165014"/>
                    <a:pt x="1875606" y="1166608"/>
                    <a:pt x="1871593" y="1166608"/>
                  </a:cubicBezTo>
                  <a:lnTo>
                    <a:pt x="15130" y="1166608"/>
                  </a:lnTo>
                  <a:cubicBezTo>
                    <a:pt x="11117" y="1166608"/>
                    <a:pt x="7269" y="1165014"/>
                    <a:pt x="4432" y="1162176"/>
                  </a:cubicBezTo>
                  <a:cubicBezTo>
                    <a:pt x="1594" y="1159339"/>
                    <a:pt x="0" y="1155490"/>
                    <a:pt x="0" y="1151478"/>
                  </a:cubicBezTo>
                  <a:lnTo>
                    <a:pt x="0" y="15130"/>
                  </a:lnTo>
                  <a:cubicBezTo>
                    <a:pt x="0" y="11117"/>
                    <a:pt x="1594" y="7269"/>
                    <a:pt x="4432" y="4432"/>
                  </a:cubicBezTo>
                  <a:cubicBezTo>
                    <a:pt x="7269" y="1594"/>
                    <a:pt x="11117" y="0"/>
                    <a:pt x="15130" y="0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86723" cy="1204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03731" y="4347885"/>
            <a:ext cx="7163651" cy="4429464"/>
            <a:chOff x="0" y="0"/>
            <a:chExt cx="1886723" cy="1166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6723" cy="1166608"/>
            </a:xfrm>
            <a:custGeom>
              <a:avLst/>
              <a:gdLst/>
              <a:ahLst/>
              <a:cxnLst/>
              <a:rect r="r" b="b" t="t" l="l"/>
              <a:pathLst>
                <a:path h="1166608" w="1886723">
                  <a:moveTo>
                    <a:pt x="15130" y="0"/>
                  </a:moveTo>
                  <a:lnTo>
                    <a:pt x="1871593" y="0"/>
                  </a:lnTo>
                  <a:cubicBezTo>
                    <a:pt x="1875606" y="0"/>
                    <a:pt x="1879454" y="1594"/>
                    <a:pt x="1882292" y="4432"/>
                  </a:cubicBezTo>
                  <a:cubicBezTo>
                    <a:pt x="1885129" y="7269"/>
                    <a:pt x="1886723" y="11117"/>
                    <a:pt x="1886723" y="15130"/>
                  </a:cubicBezTo>
                  <a:lnTo>
                    <a:pt x="1886723" y="1151478"/>
                  </a:lnTo>
                  <a:cubicBezTo>
                    <a:pt x="1886723" y="1155490"/>
                    <a:pt x="1885129" y="1159339"/>
                    <a:pt x="1882292" y="1162176"/>
                  </a:cubicBezTo>
                  <a:cubicBezTo>
                    <a:pt x="1879454" y="1165014"/>
                    <a:pt x="1875606" y="1166608"/>
                    <a:pt x="1871593" y="1166608"/>
                  </a:cubicBezTo>
                  <a:lnTo>
                    <a:pt x="15130" y="1166608"/>
                  </a:lnTo>
                  <a:cubicBezTo>
                    <a:pt x="11117" y="1166608"/>
                    <a:pt x="7269" y="1165014"/>
                    <a:pt x="4432" y="1162176"/>
                  </a:cubicBezTo>
                  <a:cubicBezTo>
                    <a:pt x="1594" y="1159339"/>
                    <a:pt x="0" y="1155490"/>
                    <a:pt x="0" y="1151478"/>
                  </a:cubicBezTo>
                  <a:lnTo>
                    <a:pt x="0" y="15130"/>
                  </a:lnTo>
                  <a:cubicBezTo>
                    <a:pt x="0" y="11117"/>
                    <a:pt x="1594" y="7269"/>
                    <a:pt x="4432" y="4432"/>
                  </a:cubicBezTo>
                  <a:cubicBezTo>
                    <a:pt x="7269" y="1594"/>
                    <a:pt x="11117" y="0"/>
                    <a:pt x="15130" y="0"/>
                  </a:cubicBezTo>
                  <a:close/>
                </a:path>
              </a:pathLst>
            </a:custGeom>
            <a:solidFill>
              <a:srgbClr val="DBEAFE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6723" cy="1204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569066" y="1795497"/>
            <a:ext cx="5088994" cy="764960"/>
            <a:chOff x="0" y="0"/>
            <a:chExt cx="1340311" cy="2014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0311" cy="201471"/>
            </a:xfrm>
            <a:custGeom>
              <a:avLst/>
              <a:gdLst/>
              <a:ahLst/>
              <a:cxnLst/>
              <a:rect r="r" b="b" t="t" l="l"/>
              <a:pathLst>
                <a:path h="201471" w="1340311">
                  <a:moveTo>
                    <a:pt x="21298" y="0"/>
                  </a:moveTo>
                  <a:lnTo>
                    <a:pt x="1319013" y="0"/>
                  </a:lnTo>
                  <a:cubicBezTo>
                    <a:pt x="1324662" y="0"/>
                    <a:pt x="1330079" y="2244"/>
                    <a:pt x="1334073" y="6238"/>
                  </a:cubicBezTo>
                  <a:cubicBezTo>
                    <a:pt x="1338067" y="10232"/>
                    <a:pt x="1340311" y="15650"/>
                    <a:pt x="1340311" y="21298"/>
                  </a:cubicBezTo>
                  <a:lnTo>
                    <a:pt x="1340311" y="180173"/>
                  </a:lnTo>
                  <a:cubicBezTo>
                    <a:pt x="1340311" y="185821"/>
                    <a:pt x="1338067" y="191239"/>
                    <a:pt x="1334073" y="195233"/>
                  </a:cubicBezTo>
                  <a:cubicBezTo>
                    <a:pt x="1330079" y="199227"/>
                    <a:pt x="1324662" y="201471"/>
                    <a:pt x="1319013" y="201471"/>
                  </a:cubicBezTo>
                  <a:lnTo>
                    <a:pt x="21298" y="201471"/>
                  </a:lnTo>
                  <a:cubicBezTo>
                    <a:pt x="15650" y="201471"/>
                    <a:pt x="10232" y="199227"/>
                    <a:pt x="6238" y="195233"/>
                  </a:cubicBezTo>
                  <a:cubicBezTo>
                    <a:pt x="2244" y="191239"/>
                    <a:pt x="0" y="185821"/>
                    <a:pt x="0" y="180173"/>
                  </a:cubicBezTo>
                  <a:lnTo>
                    <a:pt x="0" y="21298"/>
                  </a:lnTo>
                  <a:cubicBezTo>
                    <a:pt x="0" y="15650"/>
                    <a:pt x="2244" y="10232"/>
                    <a:pt x="6238" y="6238"/>
                  </a:cubicBezTo>
                  <a:cubicBezTo>
                    <a:pt x="10232" y="2244"/>
                    <a:pt x="15650" y="0"/>
                    <a:pt x="212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40311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42042" y="4654059"/>
            <a:ext cx="5088994" cy="764960"/>
            <a:chOff x="0" y="0"/>
            <a:chExt cx="1340311" cy="201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0311" cy="201471"/>
            </a:xfrm>
            <a:custGeom>
              <a:avLst/>
              <a:gdLst/>
              <a:ahLst/>
              <a:cxnLst/>
              <a:rect r="r" b="b" t="t" l="l"/>
              <a:pathLst>
                <a:path h="201471" w="1340311">
                  <a:moveTo>
                    <a:pt x="21298" y="0"/>
                  </a:moveTo>
                  <a:lnTo>
                    <a:pt x="1319013" y="0"/>
                  </a:lnTo>
                  <a:cubicBezTo>
                    <a:pt x="1324662" y="0"/>
                    <a:pt x="1330079" y="2244"/>
                    <a:pt x="1334073" y="6238"/>
                  </a:cubicBezTo>
                  <a:cubicBezTo>
                    <a:pt x="1338067" y="10232"/>
                    <a:pt x="1340311" y="15650"/>
                    <a:pt x="1340311" y="21298"/>
                  </a:cubicBezTo>
                  <a:lnTo>
                    <a:pt x="1340311" y="180173"/>
                  </a:lnTo>
                  <a:cubicBezTo>
                    <a:pt x="1340311" y="185821"/>
                    <a:pt x="1338067" y="191239"/>
                    <a:pt x="1334073" y="195233"/>
                  </a:cubicBezTo>
                  <a:cubicBezTo>
                    <a:pt x="1330079" y="199227"/>
                    <a:pt x="1324662" y="201471"/>
                    <a:pt x="1319013" y="201471"/>
                  </a:cubicBezTo>
                  <a:lnTo>
                    <a:pt x="21298" y="201471"/>
                  </a:lnTo>
                  <a:cubicBezTo>
                    <a:pt x="15650" y="201471"/>
                    <a:pt x="10232" y="199227"/>
                    <a:pt x="6238" y="195233"/>
                  </a:cubicBezTo>
                  <a:cubicBezTo>
                    <a:pt x="2244" y="191239"/>
                    <a:pt x="0" y="185821"/>
                    <a:pt x="0" y="180173"/>
                  </a:cubicBezTo>
                  <a:lnTo>
                    <a:pt x="0" y="21298"/>
                  </a:lnTo>
                  <a:cubicBezTo>
                    <a:pt x="0" y="15650"/>
                    <a:pt x="2244" y="10232"/>
                    <a:pt x="6238" y="6238"/>
                  </a:cubicBezTo>
                  <a:cubicBezTo>
                    <a:pt x="10232" y="2244"/>
                    <a:pt x="15650" y="0"/>
                    <a:pt x="212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0311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69066" y="2800264"/>
            <a:ext cx="5088994" cy="764960"/>
            <a:chOff x="0" y="0"/>
            <a:chExt cx="1340311" cy="2014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0311" cy="201471"/>
            </a:xfrm>
            <a:custGeom>
              <a:avLst/>
              <a:gdLst/>
              <a:ahLst/>
              <a:cxnLst/>
              <a:rect r="r" b="b" t="t" l="l"/>
              <a:pathLst>
                <a:path h="201471" w="1340311">
                  <a:moveTo>
                    <a:pt x="21298" y="0"/>
                  </a:moveTo>
                  <a:lnTo>
                    <a:pt x="1319013" y="0"/>
                  </a:lnTo>
                  <a:cubicBezTo>
                    <a:pt x="1324662" y="0"/>
                    <a:pt x="1330079" y="2244"/>
                    <a:pt x="1334073" y="6238"/>
                  </a:cubicBezTo>
                  <a:cubicBezTo>
                    <a:pt x="1338067" y="10232"/>
                    <a:pt x="1340311" y="15650"/>
                    <a:pt x="1340311" y="21298"/>
                  </a:cubicBezTo>
                  <a:lnTo>
                    <a:pt x="1340311" y="180173"/>
                  </a:lnTo>
                  <a:cubicBezTo>
                    <a:pt x="1340311" y="185821"/>
                    <a:pt x="1338067" y="191239"/>
                    <a:pt x="1334073" y="195233"/>
                  </a:cubicBezTo>
                  <a:cubicBezTo>
                    <a:pt x="1330079" y="199227"/>
                    <a:pt x="1324662" y="201471"/>
                    <a:pt x="1319013" y="201471"/>
                  </a:cubicBezTo>
                  <a:lnTo>
                    <a:pt x="21298" y="201471"/>
                  </a:lnTo>
                  <a:cubicBezTo>
                    <a:pt x="15650" y="201471"/>
                    <a:pt x="10232" y="199227"/>
                    <a:pt x="6238" y="195233"/>
                  </a:cubicBezTo>
                  <a:cubicBezTo>
                    <a:pt x="2244" y="191239"/>
                    <a:pt x="0" y="185821"/>
                    <a:pt x="0" y="180173"/>
                  </a:cubicBezTo>
                  <a:lnTo>
                    <a:pt x="0" y="21298"/>
                  </a:lnTo>
                  <a:cubicBezTo>
                    <a:pt x="0" y="15650"/>
                    <a:pt x="2244" y="10232"/>
                    <a:pt x="6238" y="6238"/>
                  </a:cubicBezTo>
                  <a:cubicBezTo>
                    <a:pt x="10232" y="2244"/>
                    <a:pt x="15650" y="0"/>
                    <a:pt x="212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40311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42042" y="5658826"/>
            <a:ext cx="5088994" cy="764960"/>
            <a:chOff x="0" y="0"/>
            <a:chExt cx="1340311" cy="2014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0311" cy="201471"/>
            </a:xfrm>
            <a:custGeom>
              <a:avLst/>
              <a:gdLst/>
              <a:ahLst/>
              <a:cxnLst/>
              <a:rect r="r" b="b" t="t" l="l"/>
              <a:pathLst>
                <a:path h="201471" w="1340311">
                  <a:moveTo>
                    <a:pt x="21298" y="0"/>
                  </a:moveTo>
                  <a:lnTo>
                    <a:pt x="1319013" y="0"/>
                  </a:lnTo>
                  <a:cubicBezTo>
                    <a:pt x="1324662" y="0"/>
                    <a:pt x="1330079" y="2244"/>
                    <a:pt x="1334073" y="6238"/>
                  </a:cubicBezTo>
                  <a:cubicBezTo>
                    <a:pt x="1338067" y="10232"/>
                    <a:pt x="1340311" y="15650"/>
                    <a:pt x="1340311" y="21298"/>
                  </a:cubicBezTo>
                  <a:lnTo>
                    <a:pt x="1340311" y="180173"/>
                  </a:lnTo>
                  <a:cubicBezTo>
                    <a:pt x="1340311" y="185821"/>
                    <a:pt x="1338067" y="191239"/>
                    <a:pt x="1334073" y="195233"/>
                  </a:cubicBezTo>
                  <a:cubicBezTo>
                    <a:pt x="1330079" y="199227"/>
                    <a:pt x="1324662" y="201471"/>
                    <a:pt x="1319013" y="201471"/>
                  </a:cubicBezTo>
                  <a:lnTo>
                    <a:pt x="21298" y="201471"/>
                  </a:lnTo>
                  <a:cubicBezTo>
                    <a:pt x="15650" y="201471"/>
                    <a:pt x="10232" y="199227"/>
                    <a:pt x="6238" y="195233"/>
                  </a:cubicBezTo>
                  <a:cubicBezTo>
                    <a:pt x="2244" y="191239"/>
                    <a:pt x="0" y="185821"/>
                    <a:pt x="0" y="180173"/>
                  </a:cubicBezTo>
                  <a:lnTo>
                    <a:pt x="0" y="21298"/>
                  </a:lnTo>
                  <a:cubicBezTo>
                    <a:pt x="0" y="15650"/>
                    <a:pt x="2244" y="10232"/>
                    <a:pt x="6238" y="6238"/>
                  </a:cubicBezTo>
                  <a:cubicBezTo>
                    <a:pt x="10232" y="2244"/>
                    <a:pt x="15650" y="0"/>
                    <a:pt x="212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40311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67101" y="1776012"/>
            <a:ext cx="803929" cy="80392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40077" y="4634574"/>
            <a:ext cx="803929" cy="80392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167101" y="2780779"/>
            <a:ext cx="803929" cy="80392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740077" y="5639341"/>
            <a:ext cx="803929" cy="803929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184093" y="1489362"/>
            <a:ext cx="6985757" cy="228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b="true" sz="9600" spc="-249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Agenda Overview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67101" y="2030343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40077" y="4888905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67101" y="3035110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40077" y="5893671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266886" y="1938302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Introduction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839861" y="4796864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Experimental Approach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66886" y="2943068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Goals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839861" y="5801630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Results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2569066" y="3805030"/>
            <a:ext cx="6117258" cy="764960"/>
            <a:chOff x="0" y="0"/>
            <a:chExt cx="1611130" cy="2014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11130" cy="201471"/>
            </a:xfrm>
            <a:custGeom>
              <a:avLst/>
              <a:gdLst/>
              <a:ahLst/>
              <a:cxnLst/>
              <a:rect r="r" b="b" t="t" l="l"/>
              <a:pathLst>
                <a:path h="201471" w="1611130">
                  <a:moveTo>
                    <a:pt x="17718" y="0"/>
                  </a:moveTo>
                  <a:lnTo>
                    <a:pt x="1593411" y="0"/>
                  </a:lnTo>
                  <a:cubicBezTo>
                    <a:pt x="1603197" y="0"/>
                    <a:pt x="1611130" y="7933"/>
                    <a:pt x="1611130" y="17718"/>
                  </a:cubicBezTo>
                  <a:lnTo>
                    <a:pt x="1611130" y="183753"/>
                  </a:lnTo>
                  <a:cubicBezTo>
                    <a:pt x="1611130" y="188452"/>
                    <a:pt x="1609263" y="192958"/>
                    <a:pt x="1605940" y="196281"/>
                  </a:cubicBezTo>
                  <a:cubicBezTo>
                    <a:pt x="1602617" y="199604"/>
                    <a:pt x="1598111" y="201471"/>
                    <a:pt x="1593411" y="201471"/>
                  </a:cubicBezTo>
                  <a:lnTo>
                    <a:pt x="17718" y="201471"/>
                  </a:lnTo>
                  <a:cubicBezTo>
                    <a:pt x="13019" y="201471"/>
                    <a:pt x="8512" y="199604"/>
                    <a:pt x="5190" y="196281"/>
                  </a:cubicBezTo>
                  <a:cubicBezTo>
                    <a:pt x="1867" y="192958"/>
                    <a:pt x="0" y="188452"/>
                    <a:pt x="0" y="183753"/>
                  </a:cubicBezTo>
                  <a:lnTo>
                    <a:pt x="0" y="17718"/>
                  </a:lnTo>
                  <a:cubicBezTo>
                    <a:pt x="0" y="13019"/>
                    <a:pt x="1867" y="8512"/>
                    <a:pt x="5190" y="5190"/>
                  </a:cubicBezTo>
                  <a:cubicBezTo>
                    <a:pt x="8512" y="1867"/>
                    <a:pt x="13019" y="0"/>
                    <a:pt x="1771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611130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142042" y="6663592"/>
            <a:ext cx="6117258" cy="764960"/>
            <a:chOff x="0" y="0"/>
            <a:chExt cx="1611130" cy="20147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11130" cy="201471"/>
            </a:xfrm>
            <a:custGeom>
              <a:avLst/>
              <a:gdLst/>
              <a:ahLst/>
              <a:cxnLst/>
              <a:rect r="r" b="b" t="t" l="l"/>
              <a:pathLst>
                <a:path h="201471" w="1611130">
                  <a:moveTo>
                    <a:pt x="17718" y="0"/>
                  </a:moveTo>
                  <a:lnTo>
                    <a:pt x="1593411" y="0"/>
                  </a:lnTo>
                  <a:cubicBezTo>
                    <a:pt x="1603197" y="0"/>
                    <a:pt x="1611130" y="7933"/>
                    <a:pt x="1611130" y="17718"/>
                  </a:cubicBezTo>
                  <a:lnTo>
                    <a:pt x="1611130" y="183753"/>
                  </a:lnTo>
                  <a:cubicBezTo>
                    <a:pt x="1611130" y="188452"/>
                    <a:pt x="1609263" y="192958"/>
                    <a:pt x="1605940" y="196281"/>
                  </a:cubicBezTo>
                  <a:cubicBezTo>
                    <a:pt x="1602617" y="199604"/>
                    <a:pt x="1598111" y="201471"/>
                    <a:pt x="1593411" y="201471"/>
                  </a:cubicBezTo>
                  <a:lnTo>
                    <a:pt x="17718" y="201471"/>
                  </a:lnTo>
                  <a:cubicBezTo>
                    <a:pt x="13019" y="201471"/>
                    <a:pt x="8512" y="199604"/>
                    <a:pt x="5190" y="196281"/>
                  </a:cubicBezTo>
                  <a:cubicBezTo>
                    <a:pt x="1867" y="192958"/>
                    <a:pt x="0" y="188452"/>
                    <a:pt x="0" y="183753"/>
                  </a:cubicBezTo>
                  <a:lnTo>
                    <a:pt x="0" y="17718"/>
                  </a:lnTo>
                  <a:cubicBezTo>
                    <a:pt x="0" y="13019"/>
                    <a:pt x="1867" y="8512"/>
                    <a:pt x="5190" y="5190"/>
                  </a:cubicBezTo>
                  <a:cubicBezTo>
                    <a:pt x="8512" y="1867"/>
                    <a:pt x="13019" y="0"/>
                    <a:pt x="1771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611130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67101" y="3785545"/>
            <a:ext cx="803929" cy="803929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740077" y="6644107"/>
            <a:ext cx="803929" cy="803929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2167101" y="4039876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740077" y="6898438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266886" y="3947835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Work Plan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839861" y="6806397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Ethical Analysis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2569066" y="4809797"/>
            <a:ext cx="5088994" cy="764960"/>
            <a:chOff x="0" y="0"/>
            <a:chExt cx="1340311" cy="2014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0311" cy="201471"/>
            </a:xfrm>
            <a:custGeom>
              <a:avLst/>
              <a:gdLst/>
              <a:ahLst/>
              <a:cxnLst/>
              <a:rect r="r" b="b" t="t" l="l"/>
              <a:pathLst>
                <a:path h="201471" w="1340311">
                  <a:moveTo>
                    <a:pt x="21298" y="0"/>
                  </a:moveTo>
                  <a:lnTo>
                    <a:pt x="1319013" y="0"/>
                  </a:lnTo>
                  <a:cubicBezTo>
                    <a:pt x="1324662" y="0"/>
                    <a:pt x="1330079" y="2244"/>
                    <a:pt x="1334073" y="6238"/>
                  </a:cubicBezTo>
                  <a:cubicBezTo>
                    <a:pt x="1338067" y="10232"/>
                    <a:pt x="1340311" y="15650"/>
                    <a:pt x="1340311" y="21298"/>
                  </a:cubicBezTo>
                  <a:lnTo>
                    <a:pt x="1340311" y="180173"/>
                  </a:lnTo>
                  <a:cubicBezTo>
                    <a:pt x="1340311" y="185821"/>
                    <a:pt x="1338067" y="191239"/>
                    <a:pt x="1334073" y="195233"/>
                  </a:cubicBezTo>
                  <a:cubicBezTo>
                    <a:pt x="1330079" y="199227"/>
                    <a:pt x="1324662" y="201471"/>
                    <a:pt x="1319013" y="201471"/>
                  </a:cubicBezTo>
                  <a:lnTo>
                    <a:pt x="21298" y="201471"/>
                  </a:lnTo>
                  <a:cubicBezTo>
                    <a:pt x="15650" y="201471"/>
                    <a:pt x="10232" y="199227"/>
                    <a:pt x="6238" y="195233"/>
                  </a:cubicBezTo>
                  <a:cubicBezTo>
                    <a:pt x="2244" y="191239"/>
                    <a:pt x="0" y="185821"/>
                    <a:pt x="0" y="180173"/>
                  </a:cubicBezTo>
                  <a:lnTo>
                    <a:pt x="0" y="21298"/>
                  </a:lnTo>
                  <a:cubicBezTo>
                    <a:pt x="0" y="15650"/>
                    <a:pt x="2244" y="10232"/>
                    <a:pt x="6238" y="6238"/>
                  </a:cubicBezTo>
                  <a:cubicBezTo>
                    <a:pt x="10232" y="2244"/>
                    <a:pt x="15650" y="0"/>
                    <a:pt x="212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340311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142042" y="7668359"/>
            <a:ext cx="5088994" cy="764960"/>
            <a:chOff x="0" y="0"/>
            <a:chExt cx="1340311" cy="20147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0311" cy="201471"/>
            </a:xfrm>
            <a:custGeom>
              <a:avLst/>
              <a:gdLst/>
              <a:ahLst/>
              <a:cxnLst/>
              <a:rect r="r" b="b" t="t" l="l"/>
              <a:pathLst>
                <a:path h="201471" w="1340311">
                  <a:moveTo>
                    <a:pt x="21298" y="0"/>
                  </a:moveTo>
                  <a:lnTo>
                    <a:pt x="1319013" y="0"/>
                  </a:lnTo>
                  <a:cubicBezTo>
                    <a:pt x="1324662" y="0"/>
                    <a:pt x="1330079" y="2244"/>
                    <a:pt x="1334073" y="6238"/>
                  </a:cubicBezTo>
                  <a:cubicBezTo>
                    <a:pt x="1338067" y="10232"/>
                    <a:pt x="1340311" y="15650"/>
                    <a:pt x="1340311" y="21298"/>
                  </a:cubicBezTo>
                  <a:lnTo>
                    <a:pt x="1340311" y="180173"/>
                  </a:lnTo>
                  <a:cubicBezTo>
                    <a:pt x="1340311" y="185821"/>
                    <a:pt x="1338067" y="191239"/>
                    <a:pt x="1334073" y="195233"/>
                  </a:cubicBezTo>
                  <a:cubicBezTo>
                    <a:pt x="1330079" y="199227"/>
                    <a:pt x="1324662" y="201471"/>
                    <a:pt x="1319013" y="201471"/>
                  </a:cubicBezTo>
                  <a:lnTo>
                    <a:pt x="21298" y="201471"/>
                  </a:lnTo>
                  <a:cubicBezTo>
                    <a:pt x="15650" y="201471"/>
                    <a:pt x="10232" y="199227"/>
                    <a:pt x="6238" y="195233"/>
                  </a:cubicBezTo>
                  <a:cubicBezTo>
                    <a:pt x="2244" y="191239"/>
                    <a:pt x="0" y="185821"/>
                    <a:pt x="0" y="180173"/>
                  </a:cubicBezTo>
                  <a:lnTo>
                    <a:pt x="0" y="21298"/>
                  </a:lnTo>
                  <a:cubicBezTo>
                    <a:pt x="0" y="15650"/>
                    <a:pt x="2244" y="10232"/>
                    <a:pt x="6238" y="6238"/>
                  </a:cubicBezTo>
                  <a:cubicBezTo>
                    <a:pt x="10232" y="2244"/>
                    <a:pt x="15650" y="0"/>
                    <a:pt x="212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340311" cy="239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167101" y="4790312"/>
            <a:ext cx="803929" cy="803929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740077" y="7648874"/>
            <a:ext cx="803929" cy="803929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2167101" y="5044643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740077" y="7903204"/>
            <a:ext cx="803929" cy="390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4"/>
              </a:lnSpc>
            </a:pPr>
            <a:r>
              <a:rPr lang="en-US" b="true" sz="3249" spc="-84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08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266886" y="4952601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Architecture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839861" y="7811163"/>
            <a:ext cx="439117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37018" y="2935487"/>
            <a:ext cx="6596946" cy="4416025"/>
            <a:chOff x="0" y="0"/>
            <a:chExt cx="1326004" cy="8876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6004" cy="887633"/>
            </a:xfrm>
            <a:custGeom>
              <a:avLst/>
              <a:gdLst/>
              <a:ahLst/>
              <a:cxnLst/>
              <a:rect r="r" b="b" t="t" l="l"/>
              <a:pathLst>
                <a:path h="887633" w="1326004">
                  <a:moveTo>
                    <a:pt x="26992" y="0"/>
                  </a:moveTo>
                  <a:lnTo>
                    <a:pt x="1299012" y="0"/>
                  </a:lnTo>
                  <a:cubicBezTo>
                    <a:pt x="1313919" y="0"/>
                    <a:pt x="1326004" y="12085"/>
                    <a:pt x="1326004" y="26992"/>
                  </a:cubicBezTo>
                  <a:lnTo>
                    <a:pt x="1326004" y="860641"/>
                  </a:lnTo>
                  <a:cubicBezTo>
                    <a:pt x="1326004" y="867800"/>
                    <a:pt x="1323160" y="874665"/>
                    <a:pt x="1318098" y="879727"/>
                  </a:cubicBezTo>
                  <a:cubicBezTo>
                    <a:pt x="1313036" y="884789"/>
                    <a:pt x="1306170" y="887633"/>
                    <a:pt x="1299012" y="887633"/>
                  </a:cubicBezTo>
                  <a:lnTo>
                    <a:pt x="26992" y="887633"/>
                  </a:lnTo>
                  <a:cubicBezTo>
                    <a:pt x="19833" y="887633"/>
                    <a:pt x="12968" y="884789"/>
                    <a:pt x="7906" y="879727"/>
                  </a:cubicBezTo>
                  <a:cubicBezTo>
                    <a:pt x="2844" y="874665"/>
                    <a:pt x="0" y="867800"/>
                    <a:pt x="0" y="860641"/>
                  </a:cubicBezTo>
                  <a:lnTo>
                    <a:pt x="0" y="26992"/>
                  </a:lnTo>
                  <a:cubicBezTo>
                    <a:pt x="0" y="19833"/>
                    <a:pt x="2844" y="12968"/>
                    <a:pt x="7906" y="7906"/>
                  </a:cubicBezTo>
                  <a:cubicBezTo>
                    <a:pt x="12968" y="2844"/>
                    <a:pt x="19833" y="0"/>
                    <a:pt x="26992" y="0"/>
                  </a:cubicBezTo>
                  <a:close/>
                </a:path>
              </a:pathLst>
            </a:custGeom>
            <a:blipFill>
              <a:blip r:embed="rId3"/>
              <a:stretch>
                <a:fillRect l="-17904" t="0" r="-17904" b="-3516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4576" y="1924147"/>
            <a:ext cx="8370231" cy="3059818"/>
            <a:chOff x="0" y="0"/>
            <a:chExt cx="1999488" cy="7309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" cy="730932"/>
            </a:xfrm>
            <a:custGeom>
              <a:avLst/>
              <a:gdLst/>
              <a:ahLst/>
              <a:cxnLst/>
              <a:rect r="r" b="b" t="t" l="l"/>
              <a:pathLst>
                <a:path h="730932" w="1999488">
                  <a:moveTo>
                    <a:pt x="12949" y="0"/>
                  </a:moveTo>
                  <a:lnTo>
                    <a:pt x="1986539" y="0"/>
                  </a:lnTo>
                  <a:cubicBezTo>
                    <a:pt x="1993690" y="0"/>
                    <a:pt x="1999488" y="5798"/>
                    <a:pt x="1999488" y="12949"/>
                  </a:cubicBezTo>
                  <a:lnTo>
                    <a:pt x="1999488" y="717983"/>
                  </a:lnTo>
                  <a:cubicBezTo>
                    <a:pt x="1999488" y="725134"/>
                    <a:pt x="1993690" y="730932"/>
                    <a:pt x="1986539" y="730932"/>
                  </a:cubicBezTo>
                  <a:lnTo>
                    <a:pt x="12949" y="730932"/>
                  </a:lnTo>
                  <a:cubicBezTo>
                    <a:pt x="5798" y="730932"/>
                    <a:pt x="0" y="725134"/>
                    <a:pt x="0" y="717983"/>
                  </a:cubicBezTo>
                  <a:lnTo>
                    <a:pt x="0" y="12949"/>
                  </a:lnTo>
                  <a:cubicBezTo>
                    <a:pt x="0" y="5798"/>
                    <a:pt x="5798" y="0"/>
                    <a:pt x="1294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99488" cy="76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42487" y="3089697"/>
            <a:ext cx="7428846" cy="155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ign languages are </a:t>
            </a:r>
            <a:r>
              <a:rPr lang="en-US" b="true" sz="2300" spc="-57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natural languages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with their own visual-spatial structure, not simple gesture codes. Their 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meanin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em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rges from </a:t>
            </a:r>
            <a:r>
              <a:rPr lang="en-US" b="true" sz="2300" spc="-57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hand shape, motion, orientation, location, and timing.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5269" y="2275713"/>
            <a:ext cx="74144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 spc="-83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THE PROBLEM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2416528" y="1325632"/>
            <a:ext cx="461743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400"/>
              </a:lnSpc>
            </a:pPr>
            <a:r>
              <a:rPr lang="en-US" b="true" sz="6000" spc="-156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Introduction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1794" y="5335810"/>
            <a:ext cx="8370231" cy="3059818"/>
            <a:chOff x="0" y="0"/>
            <a:chExt cx="1999488" cy="7309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9488" cy="730932"/>
            </a:xfrm>
            <a:custGeom>
              <a:avLst/>
              <a:gdLst/>
              <a:ahLst/>
              <a:cxnLst/>
              <a:rect r="r" b="b" t="t" l="l"/>
              <a:pathLst>
                <a:path h="730932" w="1999488">
                  <a:moveTo>
                    <a:pt x="12949" y="0"/>
                  </a:moveTo>
                  <a:lnTo>
                    <a:pt x="1986539" y="0"/>
                  </a:lnTo>
                  <a:cubicBezTo>
                    <a:pt x="1993690" y="0"/>
                    <a:pt x="1999488" y="5798"/>
                    <a:pt x="1999488" y="12949"/>
                  </a:cubicBezTo>
                  <a:lnTo>
                    <a:pt x="1999488" y="717983"/>
                  </a:lnTo>
                  <a:cubicBezTo>
                    <a:pt x="1999488" y="725134"/>
                    <a:pt x="1993690" y="730932"/>
                    <a:pt x="1986539" y="730932"/>
                  </a:cubicBezTo>
                  <a:lnTo>
                    <a:pt x="12949" y="730932"/>
                  </a:lnTo>
                  <a:cubicBezTo>
                    <a:pt x="5798" y="730932"/>
                    <a:pt x="0" y="725134"/>
                    <a:pt x="0" y="717983"/>
                  </a:cubicBezTo>
                  <a:lnTo>
                    <a:pt x="0" y="12949"/>
                  </a:lnTo>
                  <a:cubicBezTo>
                    <a:pt x="0" y="5798"/>
                    <a:pt x="5798" y="0"/>
                    <a:pt x="1294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99488" cy="76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49704" y="6501360"/>
            <a:ext cx="6997770" cy="155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The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same sign varies across </a:t>
            </a:r>
            <a:r>
              <a:rPr lang="en-US" b="true" sz="2300" spc="-57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signers, viewpoints, execution speeds, and recording conditions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, li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mitin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g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th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 reach of every accessibility tool that depends on it.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2487" y="5687376"/>
            <a:ext cx="74144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 spc="-83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WHY IS IT HARD?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71739" y="2534490"/>
            <a:ext cx="6462225" cy="4931434"/>
            <a:chOff x="0" y="0"/>
            <a:chExt cx="773323" cy="5901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3323" cy="590136"/>
            </a:xfrm>
            <a:custGeom>
              <a:avLst/>
              <a:gdLst/>
              <a:ahLst/>
              <a:cxnLst/>
              <a:rect r="r" b="b" t="t" l="l"/>
              <a:pathLst>
                <a:path h="590136" w="773323">
                  <a:moveTo>
                    <a:pt x="27555" y="0"/>
                  </a:moveTo>
                  <a:lnTo>
                    <a:pt x="745768" y="0"/>
                  </a:lnTo>
                  <a:cubicBezTo>
                    <a:pt x="760986" y="0"/>
                    <a:pt x="773323" y="12337"/>
                    <a:pt x="773323" y="27555"/>
                  </a:cubicBezTo>
                  <a:lnTo>
                    <a:pt x="773323" y="562581"/>
                  </a:lnTo>
                  <a:cubicBezTo>
                    <a:pt x="773323" y="577799"/>
                    <a:pt x="760986" y="590136"/>
                    <a:pt x="745768" y="590136"/>
                  </a:cubicBezTo>
                  <a:lnTo>
                    <a:pt x="27555" y="590136"/>
                  </a:lnTo>
                  <a:cubicBezTo>
                    <a:pt x="12337" y="590136"/>
                    <a:pt x="0" y="577799"/>
                    <a:pt x="0" y="562581"/>
                  </a:cubicBezTo>
                  <a:lnTo>
                    <a:pt x="0" y="27555"/>
                  </a:lnTo>
                  <a:cubicBezTo>
                    <a:pt x="0" y="12337"/>
                    <a:pt x="12337" y="0"/>
                    <a:pt x="27555" y="0"/>
                  </a:cubicBezTo>
                  <a:close/>
                </a:path>
              </a:pathLst>
            </a:custGeom>
            <a:blipFill>
              <a:blip r:embed="rId3"/>
              <a:stretch>
                <a:fillRect l="-7269" t="0" r="-7269" b="0"/>
              </a:stretch>
            </a:blipFill>
            <a:ln w="19050" cap="rnd">
              <a:solidFill>
                <a:srgbClr val="1E3A8A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4576" y="1924147"/>
            <a:ext cx="8370231" cy="3667244"/>
            <a:chOff x="0" y="0"/>
            <a:chExt cx="1999488" cy="8760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99488" cy="876034"/>
            </a:xfrm>
            <a:custGeom>
              <a:avLst/>
              <a:gdLst/>
              <a:ahLst/>
              <a:cxnLst/>
              <a:rect r="r" b="b" t="t" l="l"/>
              <a:pathLst>
                <a:path h="876034" w="1999488">
                  <a:moveTo>
                    <a:pt x="12949" y="0"/>
                  </a:moveTo>
                  <a:lnTo>
                    <a:pt x="1986539" y="0"/>
                  </a:lnTo>
                  <a:cubicBezTo>
                    <a:pt x="1993690" y="0"/>
                    <a:pt x="1999488" y="5798"/>
                    <a:pt x="1999488" y="12949"/>
                  </a:cubicBezTo>
                  <a:lnTo>
                    <a:pt x="1999488" y="863085"/>
                  </a:lnTo>
                  <a:cubicBezTo>
                    <a:pt x="1999488" y="870237"/>
                    <a:pt x="1993690" y="876034"/>
                    <a:pt x="1986539" y="876034"/>
                  </a:cubicBezTo>
                  <a:lnTo>
                    <a:pt x="12949" y="876034"/>
                  </a:lnTo>
                  <a:cubicBezTo>
                    <a:pt x="5798" y="876034"/>
                    <a:pt x="0" y="870237"/>
                    <a:pt x="0" y="863085"/>
                  </a:cubicBezTo>
                  <a:lnTo>
                    <a:pt x="0" y="12949"/>
                  </a:lnTo>
                  <a:cubicBezTo>
                    <a:pt x="0" y="5798"/>
                    <a:pt x="5798" y="0"/>
                    <a:pt x="1294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99488" cy="914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1794" y="6104486"/>
            <a:ext cx="8370231" cy="2722875"/>
            <a:chOff x="0" y="0"/>
            <a:chExt cx="1999488" cy="6504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9488" cy="650443"/>
            </a:xfrm>
            <a:custGeom>
              <a:avLst/>
              <a:gdLst/>
              <a:ahLst/>
              <a:cxnLst/>
              <a:rect r="r" b="b" t="t" l="l"/>
              <a:pathLst>
                <a:path h="650443" w="1999488">
                  <a:moveTo>
                    <a:pt x="12949" y="0"/>
                  </a:moveTo>
                  <a:lnTo>
                    <a:pt x="1986539" y="0"/>
                  </a:lnTo>
                  <a:cubicBezTo>
                    <a:pt x="1993690" y="0"/>
                    <a:pt x="1999488" y="5798"/>
                    <a:pt x="1999488" y="12949"/>
                  </a:cubicBezTo>
                  <a:lnTo>
                    <a:pt x="1999488" y="637494"/>
                  </a:lnTo>
                  <a:cubicBezTo>
                    <a:pt x="1999488" y="644645"/>
                    <a:pt x="1993690" y="650443"/>
                    <a:pt x="1986539" y="650443"/>
                  </a:cubicBezTo>
                  <a:lnTo>
                    <a:pt x="12949" y="650443"/>
                  </a:lnTo>
                  <a:cubicBezTo>
                    <a:pt x="5798" y="650443"/>
                    <a:pt x="0" y="644645"/>
                    <a:pt x="0" y="637494"/>
                  </a:cubicBezTo>
                  <a:lnTo>
                    <a:pt x="0" y="12949"/>
                  </a:lnTo>
                  <a:cubicBezTo>
                    <a:pt x="0" y="5798"/>
                    <a:pt x="5798" y="0"/>
                    <a:pt x="12949" y="0"/>
                  </a:cubicBezTo>
                  <a:close/>
                </a:path>
              </a:pathLst>
            </a:custGeom>
            <a:solidFill>
              <a:srgbClr val="FAEEDA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99488" cy="688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42487" y="3089697"/>
            <a:ext cx="7428846" cy="1943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8"/>
              </a:lnSpc>
            </a:pP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Design, implement, and experimentally validate a research prototype for word-level </a:t>
            </a:r>
            <a:r>
              <a:rPr lang="en-US" b="true" sz="2300" spc="-57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American Sign Language (ASL)</a:t>
            </a:r>
            <a:r>
              <a:rPr lang="en-US" sz="2300" spc="-57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recognition from short video clips, using hand-landmark representations and temporal neural models.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2487" y="7179417"/>
            <a:ext cx="7017364" cy="127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9"/>
              </a:lnSpc>
            </a:pPr>
            <a:r>
              <a:rPr lang="en-US" sz="2499" i="true" spc="-62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Can </a:t>
            </a:r>
            <a:r>
              <a:rPr lang="en-US" b="true" sz="2499" i="true" spc="-62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hand-landmark</a:t>
            </a:r>
            <a:r>
              <a:rPr lang="en-US" sz="2499" i="true" spc="-62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 </a:t>
            </a:r>
            <a:r>
              <a:rPr lang="en-US" sz="2499" i="true" spc="-62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sequences provide enough information for a temporal model to classify short ASL video clips into </a:t>
            </a:r>
            <a:r>
              <a:rPr lang="en-US" b="true" sz="2499" i="true" spc="-62">
                <a:solidFill>
                  <a:srgbClr val="000000"/>
                </a:solidFill>
                <a:latin typeface="Open Sans 1 Bold Italics"/>
                <a:ea typeface="Open Sans 1 Bold Italics"/>
                <a:cs typeface="Open Sans 1 Bold Italics"/>
                <a:sym typeface="Open Sans 1 Bold Italics"/>
              </a:rPr>
              <a:t>word glosses</a:t>
            </a:r>
            <a:r>
              <a:rPr lang="en-US" sz="2499" i="true" spc="-62">
                <a:solidFill>
                  <a:srgbClr val="000000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5269" y="2275713"/>
            <a:ext cx="74144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 spc="-83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MAIN GOAL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42487" y="6531985"/>
            <a:ext cx="741441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</a:pPr>
            <a:r>
              <a:rPr lang="en-US" sz="3200" spc="-83">
                <a:solidFill>
                  <a:srgbClr val="BF7D0C"/>
                </a:solidFill>
                <a:latin typeface="Open Sans 1"/>
                <a:ea typeface="Open Sans 1"/>
                <a:cs typeface="Open Sans 1"/>
                <a:sym typeface="Open Sans 1"/>
              </a:rPr>
              <a:t>RESEARCH HYPOTHESIS</a:t>
            </a:r>
          </a:p>
        </p:txBody>
      </p:sp>
      <p:sp>
        <p:nvSpPr>
          <p:cNvPr name="AutoShape 14" id="14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4924611" y="1325632"/>
            <a:ext cx="210935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400"/>
              </a:lnSpc>
            </a:pPr>
            <a:r>
              <a:rPr lang="en-US" b="true" sz="6000" spc="-156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 Goals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0645" y="2513317"/>
            <a:ext cx="4262933" cy="2333235"/>
            <a:chOff x="0" y="0"/>
            <a:chExt cx="1438855" cy="787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2166" y="2534747"/>
            <a:ext cx="4262933" cy="2333235"/>
            <a:chOff x="0" y="0"/>
            <a:chExt cx="1438855" cy="787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75157" y="2490459"/>
            <a:ext cx="4262933" cy="2333235"/>
            <a:chOff x="0" y="0"/>
            <a:chExt cx="1438855" cy="787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9910" y="5255144"/>
            <a:ext cx="4262933" cy="2333235"/>
            <a:chOff x="0" y="0"/>
            <a:chExt cx="1438855" cy="787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11431" y="5255144"/>
            <a:ext cx="4262933" cy="2333235"/>
            <a:chOff x="0" y="0"/>
            <a:chExt cx="1438855" cy="787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74422" y="5210856"/>
            <a:ext cx="4262933" cy="2333235"/>
            <a:chOff x="0" y="0"/>
            <a:chExt cx="1438855" cy="787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22112" y="3288485"/>
            <a:ext cx="3303745" cy="114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Analyse the t</a:t>
            </a: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echnical and scientific background of SLR.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22112" y="2913544"/>
            <a:ext cx="587123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83633" y="3288485"/>
            <a:ext cx="3491837" cy="114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Define a l</a:t>
            </a: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andmark-based data representation for ASL clips.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83633" y="2913544"/>
            <a:ext cx="489151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46624" y="3282297"/>
            <a:ext cx="3755151" cy="114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Compare candidate temporal</a:t>
            </a: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architectures under matched conditions.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46624" y="2913544"/>
            <a:ext cx="2869870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1377" y="5961102"/>
            <a:ext cx="3304480" cy="114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Validate the winner model with s</a:t>
            </a: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tatistically meaningful protocols.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22112" y="5589654"/>
            <a:ext cx="587858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82898" y="5961102"/>
            <a:ext cx="3304480" cy="114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Verify generalisation through c</a:t>
            </a: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ross-dataset and vocabulary scaling.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82898" y="5589654"/>
            <a:ext cx="567528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45889" y="5964594"/>
            <a:ext cx="3304480" cy="114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Build a runtime p</a:t>
            </a: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rototype and evaluate the ethical implications.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45889" y="5589654"/>
            <a:ext cx="518542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03018" y="1325632"/>
            <a:ext cx="493094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156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Specific Goals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441842" y="7978904"/>
            <a:ext cx="7375419" cy="1725828"/>
            <a:chOff x="0" y="0"/>
            <a:chExt cx="3052862" cy="7143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052862" cy="714361"/>
            </a:xfrm>
            <a:custGeom>
              <a:avLst/>
              <a:gdLst/>
              <a:ahLst/>
              <a:cxnLst/>
              <a:rect r="r" b="b" t="t" l="l"/>
              <a:pathLst>
                <a:path h="714361" w="3052862">
                  <a:moveTo>
                    <a:pt x="16795" y="0"/>
                  </a:moveTo>
                  <a:lnTo>
                    <a:pt x="3036067" y="0"/>
                  </a:lnTo>
                  <a:cubicBezTo>
                    <a:pt x="3045343" y="0"/>
                    <a:pt x="3052862" y="7519"/>
                    <a:pt x="3052862" y="16795"/>
                  </a:cubicBezTo>
                  <a:lnTo>
                    <a:pt x="3052862" y="697566"/>
                  </a:lnTo>
                  <a:cubicBezTo>
                    <a:pt x="3052862" y="706842"/>
                    <a:pt x="3045343" y="714361"/>
                    <a:pt x="3036067" y="714361"/>
                  </a:cubicBezTo>
                  <a:lnTo>
                    <a:pt x="16795" y="714361"/>
                  </a:lnTo>
                  <a:cubicBezTo>
                    <a:pt x="7519" y="714361"/>
                    <a:pt x="0" y="706842"/>
                    <a:pt x="0" y="697566"/>
                  </a:cubicBezTo>
                  <a:lnTo>
                    <a:pt x="0" y="16795"/>
                  </a:lnTo>
                  <a:cubicBezTo>
                    <a:pt x="0" y="7519"/>
                    <a:pt x="7519" y="0"/>
                    <a:pt x="16795" y="0"/>
                  </a:cubicBezTo>
                  <a:close/>
                </a:path>
              </a:pathLst>
            </a:custGeom>
            <a:solidFill>
              <a:srgbClr val="FAEEDA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052862" cy="752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5744748" y="8580313"/>
            <a:ext cx="6048992" cy="61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834" spc="-4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Deploy a fully func</a:t>
            </a:r>
            <a:r>
              <a:rPr lang="en-US" sz="1834" spc="-4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tional mobile prototype with real-time ASL recognition.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44748" y="8103253"/>
            <a:ext cx="422836" cy="27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</a:pPr>
            <a:r>
              <a:rPr lang="en-US" b="true" sz="1834" spc="-47">
                <a:solidFill>
                  <a:srgbClr val="BF7D0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S07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23051" y="8131304"/>
            <a:ext cx="3491923" cy="28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742" spc="-4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EXTRA BEYOND RESEARCH SCOPE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482358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496567" y="3855714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96417" y="4753381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450726" y="4824563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1" y="0"/>
                </a:lnTo>
                <a:lnTo>
                  <a:pt x="7336951" y="5616102"/>
                </a:lnTo>
                <a:lnTo>
                  <a:pt x="0" y="56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496616" y="5627141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496367" y="6529476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496666" y="7460385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496318" y="8362720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96268" y="9248775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891021" y="3718872"/>
            <a:ext cx="1257583" cy="293899"/>
            <a:chOff x="0" y="0"/>
            <a:chExt cx="331215" cy="774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215" cy="77405"/>
            </a:xfrm>
            <a:custGeom>
              <a:avLst/>
              <a:gdLst/>
              <a:ahLst/>
              <a:cxnLst/>
              <a:rect r="r" b="b" t="t" l="l"/>
              <a:pathLst>
                <a:path h="77405" w="331215">
                  <a:moveTo>
                    <a:pt x="38703" y="0"/>
                  </a:moveTo>
                  <a:lnTo>
                    <a:pt x="292513" y="0"/>
                  </a:lnTo>
                  <a:cubicBezTo>
                    <a:pt x="302777" y="0"/>
                    <a:pt x="312621" y="4078"/>
                    <a:pt x="319879" y="11336"/>
                  </a:cubicBezTo>
                  <a:cubicBezTo>
                    <a:pt x="327138" y="18594"/>
                    <a:pt x="331215" y="28438"/>
                    <a:pt x="331215" y="38703"/>
                  </a:cubicBezTo>
                  <a:lnTo>
                    <a:pt x="331215" y="38703"/>
                  </a:lnTo>
                  <a:cubicBezTo>
                    <a:pt x="331215" y="60078"/>
                    <a:pt x="313887" y="77405"/>
                    <a:pt x="292513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1215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81429" y="4587382"/>
            <a:ext cx="1222222" cy="293899"/>
            <a:chOff x="0" y="0"/>
            <a:chExt cx="321902" cy="77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902" cy="77405"/>
            </a:xfrm>
            <a:custGeom>
              <a:avLst/>
              <a:gdLst/>
              <a:ahLst/>
              <a:cxnLst/>
              <a:rect r="r" b="b" t="t" l="l"/>
              <a:pathLst>
                <a:path h="77405" w="321902">
                  <a:moveTo>
                    <a:pt x="38703" y="0"/>
                  </a:moveTo>
                  <a:lnTo>
                    <a:pt x="283199" y="0"/>
                  </a:lnTo>
                  <a:cubicBezTo>
                    <a:pt x="304574" y="0"/>
                    <a:pt x="321902" y="17328"/>
                    <a:pt x="321902" y="38703"/>
                  </a:cubicBezTo>
                  <a:lnTo>
                    <a:pt x="321902" y="38703"/>
                  </a:lnTo>
                  <a:cubicBezTo>
                    <a:pt x="321902" y="60078"/>
                    <a:pt x="304574" y="77405"/>
                    <a:pt x="283199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1902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81429" y="5480192"/>
            <a:ext cx="3817777" cy="293899"/>
            <a:chOff x="0" y="0"/>
            <a:chExt cx="1005505" cy="774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505" cy="77405"/>
            </a:xfrm>
            <a:custGeom>
              <a:avLst/>
              <a:gdLst/>
              <a:ahLst/>
              <a:cxnLst/>
              <a:rect r="r" b="b" t="t" l="l"/>
              <a:pathLst>
                <a:path h="77405" w="1005505">
                  <a:moveTo>
                    <a:pt x="38703" y="0"/>
                  </a:moveTo>
                  <a:lnTo>
                    <a:pt x="966802" y="0"/>
                  </a:lnTo>
                  <a:cubicBezTo>
                    <a:pt x="988177" y="0"/>
                    <a:pt x="1005505" y="17328"/>
                    <a:pt x="1005505" y="38703"/>
                  </a:cubicBezTo>
                  <a:lnTo>
                    <a:pt x="1005505" y="38703"/>
                  </a:lnTo>
                  <a:cubicBezTo>
                    <a:pt x="1005505" y="60078"/>
                    <a:pt x="988177" y="77405"/>
                    <a:pt x="966802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1E3A8A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05505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652223" y="5482870"/>
            <a:ext cx="302855" cy="307593"/>
            <a:chOff x="0" y="0"/>
            <a:chExt cx="693968" cy="704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232374" y="988780"/>
            <a:ext cx="6026926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b="true" sz="9600" spc="-249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Work Plan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011890"/>
            <a:ext cx="25879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WORK PACKAGES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91021" y="3066183"/>
            <a:ext cx="138081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JANUARY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34832" y="3066183"/>
            <a:ext cx="15643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FEBRUARY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62200" y="3066183"/>
            <a:ext cx="111788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MARCH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43083" y="3066183"/>
            <a:ext cx="86953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APRIL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075612" y="3066183"/>
            <a:ext cx="68282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3690297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Project Framing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4587964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Hand Detection (pivot)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490299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Landmark Baseline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6392633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Vocabulary Scaling &amp; Ethics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7294968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Mobile Prototype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8197303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Modular Refactor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9099638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Documentation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340232" y="9601747"/>
            <a:ext cx="6219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Pivot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59278" y="9601747"/>
            <a:ext cx="5646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MVP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356423" y="9594318"/>
            <a:ext cx="302855" cy="307593"/>
            <a:chOff x="0" y="0"/>
            <a:chExt cx="693968" cy="7048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37377" y="9594318"/>
            <a:ext cx="302855" cy="307593"/>
            <a:chOff x="0" y="0"/>
            <a:chExt cx="693968" cy="7048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252" y="482358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496567" y="3855714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96417" y="4753381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4450726" y="4824563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1" y="0"/>
                </a:lnTo>
                <a:lnTo>
                  <a:pt x="7336951" y="5616102"/>
                </a:lnTo>
                <a:lnTo>
                  <a:pt x="0" y="56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496616" y="5627141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4496367" y="6529476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496666" y="7460385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496318" y="8362720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4496268" y="9248775"/>
            <a:ext cx="12762584" cy="1905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891021" y="3718872"/>
            <a:ext cx="1257583" cy="293899"/>
            <a:chOff x="0" y="0"/>
            <a:chExt cx="331215" cy="774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215" cy="77405"/>
            </a:xfrm>
            <a:custGeom>
              <a:avLst/>
              <a:gdLst/>
              <a:ahLst/>
              <a:cxnLst/>
              <a:rect r="r" b="b" t="t" l="l"/>
              <a:pathLst>
                <a:path h="77405" w="331215">
                  <a:moveTo>
                    <a:pt x="38703" y="0"/>
                  </a:moveTo>
                  <a:lnTo>
                    <a:pt x="292513" y="0"/>
                  </a:lnTo>
                  <a:cubicBezTo>
                    <a:pt x="302777" y="0"/>
                    <a:pt x="312621" y="4078"/>
                    <a:pt x="319879" y="11336"/>
                  </a:cubicBezTo>
                  <a:cubicBezTo>
                    <a:pt x="327138" y="18594"/>
                    <a:pt x="331215" y="28438"/>
                    <a:pt x="331215" y="38703"/>
                  </a:cubicBezTo>
                  <a:lnTo>
                    <a:pt x="331215" y="38703"/>
                  </a:lnTo>
                  <a:cubicBezTo>
                    <a:pt x="331215" y="60078"/>
                    <a:pt x="313887" y="77405"/>
                    <a:pt x="292513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1215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81429" y="4587382"/>
            <a:ext cx="1222222" cy="293899"/>
            <a:chOff x="0" y="0"/>
            <a:chExt cx="321902" cy="77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1902" cy="77405"/>
            </a:xfrm>
            <a:custGeom>
              <a:avLst/>
              <a:gdLst/>
              <a:ahLst/>
              <a:cxnLst/>
              <a:rect r="r" b="b" t="t" l="l"/>
              <a:pathLst>
                <a:path h="77405" w="321902">
                  <a:moveTo>
                    <a:pt x="38703" y="0"/>
                  </a:moveTo>
                  <a:lnTo>
                    <a:pt x="283199" y="0"/>
                  </a:lnTo>
                  <a:cubicBezTo>
                    <a:pt x="304574" y="0"/>
                    <a:pt x="321902" y="17328"/>
                    <a:pt x="321902" y="38703"/>
                  </a:cubicBezTo>
                  <a:lnTo>
                    <a:pt x="321902" y="38703"/>
                  </a:lnTo>
                  <a:cubicBezTo>
                    <a:pt x="321902" y="60078"/>
                    <a:pt x="304574" y="77405"/>
                    <a:pt x="283199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21902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81429" y="5480192"/>
            <a:ext cx="3817777" cy="293899"/>
            <a:chOff x="0" y="0"/>
            <a:chExt cx="1005505" cy="774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505" cy="77405"/>
            </a:xfrm>
            <a:custGeom>
              <a:avLst/>
              <a:gdLst/>
              <a:ahLst/>
              <a:cxnLst/>
              <a:rect r="r" b="b" t="t" l="l"/>
              <a:pathLst>
                <a:path h="77405" w="1005505">
                  <a:moveTo>
                    <a:pt x="38703" y="0"/>
                  </a:moveTo>
                  <a:lnTo>
                    <a:pt x="966802" y="0"/>
                  </a:lnTo>
                  <a:cubicBezTo>
                    <a:pt x="988177" y="0"/>
                    <a:pt x="1005505" y="17328"/>
                    <a:pt x="1005505" y="38703"/>
                  </a:cubicBezTo>
                  <a:lnTo>
                    <a:pt x="1005505" y="38703"/>
                  </a:lnTo>
                  <a:cubicBezTo>
                    <a:pt x="1005505" y="60078"/>
                    <a:pt x="988177" y="77405"/>
                    <a:pt x="966802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05505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9205" y="6382526"/>
            <a:ext cx="5113412" cy="293899"/>
            <a:chOff x="0" y="0"/>
            <a:chExt cx="1346742" cy="774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6742" cy="77405"/>
            </a:xfrm>
            <a:custGeom>
              <a:avLst/>
              <a:gdLst/>
              <a:ahLst/>
              <a:cxnLst/>
              <a:rect r="r" b="b" t="t" l="l"/>
              <a:pathLst>
                <a:path h="77405" w="1346742">
                  <a:moveTo>
                    <a:pt x="38703" y="0"/>
                  </a:moveTo>
                  <a:lnTo>
                    <a:pt x="1308040" y="0"/>
                  </a:lnTo>
                  <a:cubicBezTo>
                    <a:pt x="1329414" y="0"/>
                    <a:pt x="1346742" y="17328"/>
                    <a:pt x="1346742" y="38703"/>
                  </a:cubicBezTo>
                  <a:lnTo>
                    <a:pt x="1346742" y="38703"/>
                  </a:lnTo>
                  <a:cubicBezTo>
                    <a:pt x="1346742" y="60078"/>
                    <a:pt x="1329414" y="77405"/>
                    <a:pt x="1308040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46742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18440" y="7332486"/>
            <a:ext cx="2719343" cy="293899"/>
            <a:chOff x="0" y="0"/>
            <a:chExt cx="716206" cy="774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6206" cy="77405"/>
            </a:xfrm>
            <a:custGeom>
              <a:avLst/>
              <a:gdLst/>
              <a:ahLst/>
              <a:cxnLst/>
              <a:rect r="r" b="b" t="t" l="l"/>
              <a:pathLst>
                <a:path h="77405" w="716206">
                  <a:moveTo>
                    <a:pt x="38703" y="0"/>
                  </a:moveTo>
                  <a:lnTo>
                    <a:pt x="677503" y="0"/>
                  </a:lnTo>
                  <a:cubicBezTo>
                    <a:pt x="698878" y="0"/>
                    <a:pt x="716206" y="17328"/>
                    <a:pt x="716206" y="38703"/>
                  </a:cubicBezTo>
                  <a:lnTo>
                    <a:pt x="716206" y="38703"/>
                  </a:lnTo>
                  <a:cubicBezTo>
                    <a:pt x="716206" y="60078"/>
                    <a:pt x="698878" y="77405"/>
                    <a:pt x="677503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16206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77850" y="8234821"/>
            <a:ext cx="2213708" cy="293899"/>
            <a:chOff x="0" y="0"/>
            <a:chExt cx="583034" cy="7740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3034" cy="77405"/>
            </a:xfrm>
            <a:custGeom>
              <a:avLst/>
              <a:gdLst/>
              <a:ahLst/>
              <a:cxnLst/>
              <a:rect r="r" b="b" t="t" l="l"/>
              <a:pathLst>
                <a:path h="77405" w="583034">
                  <a:moveTo>
                    <a:pt x="38703" y="0"/>
                  </a:moveTo>
                  <a:lnTo>
                    <a:pt x="544331" y="0"/>
                  </a:lnTo>
                  <a:cubicBezTo>
                    <a:pt x="554596" y="0"/>
                    <a:pt x="564440" y="4078"/>
                    <a:pt x="571698" y="11336"/>
                  </a:cubicBezTo>
                  <a:cubicBezTo>
                    <a:pt x="578957" y="18594"/>
                    <a:pt x="583034" y="28438"/>
                    <a:pt x="583034" y="38703"/>
                  </a:cubicBezTo>
                  <a:lnTo>
                    <a:pt x="583034" y="38703"/>
                  </a:lnTo>
                  <a:cubicBezTo>
                    <a:pt x="583034" y="60078"/>
                    <a:pt x="565706" y="77405"/>
                    <a:pt x="544331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1E3A8A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83034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617018" y="9101826"/>
            <a:ext cx="8428798" cy="293899"/>
            <a:chOff x="0" y="0"/>
            <a:chExt cx="2219930" cy="774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9930" cy="77405"/>
            </a:xfrm>
            <a:custGeom>
              <a:avLst/>
              <a:gdLst/>
              <a:ahLst/>
              <a:cxnLst/>
              <a:rect r="r" b="b" t="t" l="l"/>
              <a:pathLst>
                <a:path h="77405" w="2219930">
                  <a:moveTo>
                    <a:pt x="38703" y="0"/>
                  </a:moveTo>
                  <a:lnTo>
                    <a:pt x="2181228" y="0"/>
                  </a:lnTo>
                  <a:cubicBezTo>
                    <a:pt x="2202602" y="0"/>
                    <a:pt x="2219930" y="17328"/>
                    <a:pt x="2219930" y="38703"/>
                  </a:cubicBezTo>
                  <a:lnTo>
                    <a:pt x="2219930" y="38703"/>
                  </a:lnTo>
                  <a:cubicBezTo>
                    <a:pt x="2219930" y="60078"/>
                    <a:pt x="2202602" y="77405"/>
                    <a:pt x="2181228" y="77405"/>
                  </a:cubicBezTo>
                  <a:lnTo>
                    <a:pt x="38703" y="77405"/>
                  </a:lnTo>
                  <a:cubicBezTo>
                    <a:pt x="17328" y="77405"/>
                    <a:pt x="0" y="60078"/>
                    <a:pt x="0" y="38703"/>
                  </a:cubicBezTo>
                  <a:lnTo>
                    <a:pt x="0" y="38703"/>
                  </a:lnTo>
                  <a:cubicBezTo>
                    <a:pt x="0" y="17328"/>
                    <a:pt x="17328" y="0"/>
                    <a:pt x="38703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19930" cy="115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652223" y="5482870"/>
            <a:ext cx="302855" cy="307593"/>
            <a:chOff x="0" y="0"/>
            <a:chExt cx="693968" cy="704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690286" y="9114028"/>
            <a:ext cx="302855" cy="307593"/>
            <a:chOff x="0" y="0"/>
            <a:chExt cx="693968" cy="7048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231926" y="988780"/>
            <a:ext cx="6026926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b="true" sz="9600" spc="-249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Work Plan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3011890"/>
            <a:ext cx="258797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WORK PACKAGES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91021" y="3066183"/>
            <a:ext cx="138081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JANUARY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34832" y="3066183"/>
            <a:ext cx="156437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FEBRUARY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962200" y="3066183"/>
            <a:ext cx="111788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MARCH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43083" y="3066183"/>
            <a:ext cx="86953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APRIL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075612" y="3066183"/>
            <a:ext cx="682826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MAY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3690297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Project Framing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4587964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Hand Detection (pivot)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5490299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Landmark Baseline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6392633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Vocabulary Scaling &amp; Ethics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7294968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Mobile Prototype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8700" y="8197303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Modular Refactor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28700" y="9099638"/>
            <a:ext cx="258797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Documentation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340232" y="9601747"/>
            <a:ext cx="6219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Pivot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59278" y="9601747"/>
            <a:ext cx="564656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MVP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356423" y="9594318"/>
            <a:ext cx="302855" cy="307593"/>
            <a:chOff x="0" y="0"/>
            <a:chExt cx="693968" cy="704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037377" y="9594318"/>
            <a:ext cx="302855" cy="307593"/>
            <a:chOff x="0" y="0"/>
            <a:chExt cx="693968" cy="7048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67671" y="0"/>
              <a:ext cx="558626" cy="592309"/>
            </a:xfrm>
            <a:custGeom>
              <a:avLst/>
              <a:gdLst/>
              <a:ahLst/>
              <a:cxnLst/>
              <a:rect r="r" b="b" t="t" l="l"/>
              <a:pathLst>
                <a:path h="592309" w="558626">
                  <a:moveTo>
                    <a:pt x="547150" y="160486"/>
                  </a:moveTo>
                  <a:lnTo>
                    <a:pt x="358460" y="543094"/>
                  </a:lnTo>
                  <a:cubicBezTo>
                    <a:pt x="343598" y="573229"/>
                    <a:pt x="312913" y="592309"/>
                    <a:pt x="279313" y="592309"/>
                  </a:cubicBezTo>
                  <a:cubicBezTo>
                    <a:pt x="245713" y="592309"/>
                    <a:pt x="215028" y="573229"/>
                    <a:pt x="200166" y="543094"/>
                  </a:cubicBezTo>
                  <a:lnTo>
                    <a:pt x="11476" y="160486"/>
                  </a:lnTo>
                  <a:cubicBezTo>
                    <a:pt x="-5533" y="125997"/>
                    <a:pt x="-3528" y="85170"/>
                    <a:pt x="16779" y="52513"/>
                  </a:cubicBezTo>
                  <a:cubicBezTo>
                    <a:pt x="37086" y="19856"/>
                    <a:pt x="72815" y="0"/>
                    <a:pt x="111271" y="0"/>
                  </a:cubicBezTo>
                  <a:lnTo>
                    <a:pt x="447355" y="0"/>
                  </a:lnTo>
                  <a:cubicBezTo>
                    <a:pt x="485811" y="0"/>
                    <a:pt x="521541" y="19856"/>
                    <a:pt x="541847" y="52513"/>
                  </a:cubicBezTo>
                  <a:cubicBezTo>
                    <a:pt x="562154" y="85170"/>
                    <a:pt x="564159" y="125997"/>
                    <a:pt x="547150" y="160486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146653" y="-38100"/>
              <a:ext cx="400663" cy="44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486345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64376" y="3975733"/>
            <a:ext cx="6954180" cy="3121053"/>
            <a:chOff x="0" y="0"/>
            <a:chExt cx="1831554" cy="82200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1554" cy="822006"/>
            </a:xfrm>
            <a:custGeom>
              <a:avLst/>
              <a:gdLst/>
              <a:ahLst/>
              <a:cxnLst/>
              <a:rect r="r" b="b" t="t" l="l"/>
              <a:pathLst>
                <a:path h="822006" w="1831554">
                  <a:moveTo>
                    <a:pt x="28945" y="0"/>
                  </a:moveTo>
                  <a:lnTo>
                    <a:pt x="1802608" y="0"/>
                  </a:lnTo>
                  <a:cubicBezTo>
                    <a:pt x="1818594" y="0"/>
                    <a:pt x="1831554" y="12959"/>
                    <a:pt x="1831554" y="28945"/>
                  </a:cubicBezTo>
                  <a:lnTo>
                    <a:pt x="1831554" y="793060"/>
                  </a:lnTo>
                  <a:cubicBezTo>
                    <a:pt x="1831554" y="809046"/>
                    <a:pt x="1818594" y="822006"/>
                    <a:pt x="1802608" y="822006"/>
                  </a:cubicBezTo>
                  <a:lnTo>
                    <a:pt x="28945" y="822006"/>
                  </a:lnTo>
                  <a:cubicBezTo>
                    <a:pt x="12959" y="822006"/>
                    <a:pt x="0" y="809046"/>
                    <a:pt x="0" y="793060"/>
                  </a:cubicBezTo>
                  <a:lnTo>
                    <a:pt x="0" y="28945"/>
                  </a:lnTo>
                  <a:cubicBezTo>
                    <a:pt x="0" y="12959"/>
                    <a:pt x="12959" y="0"/>
                    <a:pt x="28945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1554" cy="86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293213" y="878468"/>
            <a:ext cx="3966087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60"/>
              </a:lnSpc>
            </a:pPr>
            <a:r>
              <a:rPr lang="en-US" b="true" sz="5400" spc="-14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4376" y="4495743"/>
            <a:ext cx="695418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Training Architecture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450726" y="4824563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1" y="0"/>
                </a:lnTo>
                <a:lnTo>
                  <a:pt x="7336951" y="5616102"/>
                </a:lnTo>
                <a:lnTo>
                  <a:pt x="0" y="5616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669444" y="3975733"/>
            <a:ext cx="6954180" cy="3121053"/>
            <a:chOff x="0" y="0"/>
            <a:chExt cx="1831554" cy="8220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1554" cy="822006"/>
            </a:xfrm>
            <a:custGeom>
              <a:avLst/>
              <a:gdLst/>
              <a:ahLst/>
              <a:cxnLst/>
              <a:rect r="r" b="b" t="t" l="l"/>
              <a:pathLst>
                <a:path h="822006" w="1831554">
                  <a:moveTo>
                    <a:pt x="28945" y="0"/>
                  </a:moveTo>
                  <a:lnTo>
                    <a:pt x="1802608" y="0"/>
                  </a:lnTo>
                  <a:cubicBezTo>
                    <a:pt x="1818594" y="0"/>
                    <a:pt x="1831554" y="12959"/>
                    <a:pt x="1831554" y="28945"/>
                  </a:cubicBezTo>
                  <a:lnTo>
                    <a:pt x="1831554" y="793060"/>
                  </a:lnTo>
                  <a:cubicBezTo>
                    <a:pt x="1831554" y="809046"/>
                    <a:pt x="1818594" y="822006"/>
                    <a:pt x="1802608" y="822006"/>
                  </a:cubicBezTo>
                  <a:lnTo>
                    <a:pt x="28945" y="822006"/>
                  </a:lnTo>
                  <a:cubicBezTo>
                    <a:pt x="12959" y="822006"/>
                    <a:pt x="0" y="809046"/>
                    <a:pt x="0" y="793060"/>
                  </a:cubicBezTo>
                  <a:lnTo>
                    <a:pt x="0" y="28945"/>
                  </a:lnTo>
                  <a:cubicBezTo>
                    <a:pt x="0" y="12959"/>
                    <a:pt x="12959" y="0"/>
                    <a:pt x="28945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31554" cy="8601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69444" y="4495743"/>
            <a:ext cx="695418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Inference Architecture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48717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026604" y="879293"/>
            <a:ext cx="4232696" cy="127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5400" spc="-14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Training</a:t>
            </a:r>
          </a:p>
          <a:p>
            <a:pPr algn="l" marL="0" indent="0" lvl="0">
              <a:lnSpc>
                <a:spcPts val="4860"/>
              </a:lnSpc>
            </a:pPr>
            <a:r>
              <a:rPr lang="en-US" b="true" sz="5400" spc="-14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731718"/>
            <a:ext cx="3524250" cy="2095500"/>
            <a:chOff x="0" y="0"/>
            <a:chExt cx="1364985" cy="8116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64985" cy="811613"/>
            </a:xfrm>
            <a:custGeom>
              <a:avLst/>
              <a:gdLst/>
              <a:ahLst/>
              <a:cxnLst/>
              <a:rect r="r" b="b" t="t" l="l"/>
              <a:pathLst>
                <a:path h="811613" w="1364985">
                  <a:moveTo>
                    <a:pt x="57116" y="0"/>
                  </a:moveTo>
                  <a:lnTo>
                    <a:pt x="1307869" y="0"/>
                  </a:lnTo>
                  <a:cubicBezTo>
                    <a:pt x="1339414" y="0"/>
                    <a:pt x="1364985" y="25572"/>
                    <a:pt x="1364985" y="57116"/>
                  </a:cubicBezTo>
                  <a:lnTo>
                    <a:pt x="1364985" y="754497"/>
                  </a:lnTo>
                  <a:cubicBezTo>
                    <a:pt x="1364985" y="786041"/>
                    <a:pt x="1339414" y="811613"/>
                    <a:pt x="1307869" y="811613"/>
                  </a:cubicBezTo>
                  <a:lnTo>
                    <a:pt x="57116" y="811613"/>
                  </a:lnTo>
                  <a:cubicBezTo>
                    <a:pt x="25572" y="811613"/>
                    <a:pt x="0" y="786041"/>
                    <a:pt x="0" y="754497"/>
                  </a:cubicBezTo>
                  <a:lnTo>
                    <a:pt x="0" y="57116"/>
                  </a:lnTo>
                  <a:cubicBezTo>
                    <a:pt x="0" y="25572"/>
                    <a:pt x="25572" y="0"/>
                    <a:pt x="57116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64985" cy="84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092949"/>
            <a:ext cx="347059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Data Ingestion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2977" y="5221627"/>
            <a:ext cx="20020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WLASL / MS-ASL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355476" y="4960443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1" y="0"/>
                </a:lnTo>
                <a:lnTo>
                  <a:pt x="7336951" y="5616103"/>
                </a:lnTo>
                <a:lnTo>
                  <a:pt x="0" y="5616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504402" y="3731718"/>
            <a:ext cx="3524250" cy="2095500"/>
            <a:chOff x="0" y="0"/>
            <a:chExt cx="1364985" cy="8116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4985" cy="811613"/>
            </a:xfrm>
            <a:custGeom>
              <a:avLst/>
              <a:gdLst/>
              <a:ahLst/>
              <a:cxnLst/>
              <a:rect r="r" b="b" t="t" l="l"/>
              <a:pathLst>
                <a:path h="811613" w="1364985">
                  <a:moveTo>
                    <a:pt x="57116" y="0"/>
                  </a:moveTo>
                  <a:lnTo>
                    <a:pt x="1307869" y="0"/>
                  </a:lnTo>
                  <a:cubicBezTo>
                    <a:pt x="1339414" y="0"/>
                    <a:pt x="1364985" y="25572"/>
                    <a:pt x="1364985" y="57116"/>
                  </a:cubicBezTo>
                  <a:lnTo>
                    <a:pt x="1364985" y="754497"/>
                  </a:lnTo>
                  <a:cubicBezTo>
                    <a:pt x="1364985" y="786041"/>
                    <a:pt x="1339414" y="811613"/>
                    <a:pt x="1307869" y="811613"/>
                  </a:cubicBezTo>
                  <a:lnTo>
                    <a:pt x="57116" y="811613"/>
                  </a:lnTo>
                  <a:cubicBezTo>
                    <a:pt x="25572" y="811613"/>
                    <a:pt x="0" y="786041"/>
                    <a:pt x="0" y="754497"/>
                  </a:cubicBezTo>
                  <a:lnTo>
                    <a:pt x="0" y="57116"/>
                  </a:lnTo>
                  <a:cubicBezTo>
                    <a:pt x="0" y="25572"/>
                    <a:pt x="25572" y="0"/>
                    <a:pt x="57116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64985" cy="84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562451" y="4092949"/>
            <a:ext cx="338241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</a:t>
            </a:r>
            <a:r>
              <a:rPr lang="en-US" b="true" sz="32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 Training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3211" y="5221627"/>
            <a:ext cx="210663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GRU + Attention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266551" y="3731718"/>
            <a:ext cx="3524250" cy="2095500"/>
            <a:chOff x="0" y="0"/>
            <a:chExt cx="1364985" cy="8116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4985" cy="811613"/>
            </a:xfrm>
            <a:custGeom>
              <a:avLst/>
              <a:gdLst/>
              <a:ahLst/>
              <a:cxnLst/>
              <a:rect r="r" b="b" t="t" l="l"/>
              <a:pathLst>
                <a:path h="811613" w="1364985">
                  <a:moveTo>
                    <a:pt x="57116" y="0"/>
                  </a:moveTo>
                  <a:lnTo>
                    <a:pt x="1307869" y="0"/>
                  </a:lnTo>
                  <a:cubicBezTo>
                    <a:pt x="1339414" y="0"/>
                    <a:pt x="1364985" y="25572"/>
                    <a:pt x="1364985" y="57116"/>
                  </a:cubicBezTo>
                  <a:lnTo>
                    <a:pt x="1364985" y="754497"/>
                  </a:lnTo>
                  <a:cubicBezTo>
                    <a:pt x="1364985" y="786041"/>
                    <a:pt x="1339414" y="811613"/>
                    <a:pt x="1307869" y="811613"/>
                  </a:cubicBezTo>
                  <a:lnTo>
                    <a:pt x="57116" y="811613"/>
                  </a:lnTo>
                  <a:cubicBezTo>
                    <a:pt x="25572" y="811613"/>
                    <a:pt x="0" y="786041"/>
                    <a:pt x="0" y="754497"/>
                  </a:cubicBezTo>
                  <a:lnTo>
                    <a:pt x="0" y="57116"/>
                  </a:lnTo>
                  <a:cubicBezTo>
                    <a:pt x="0" y="25572"/>
                    <a:pt x="25572" y="0"/>
                    <a:pt x="57116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364985" cy="84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266551" y="3958510"/>
            <a:ext cx="34705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Fe</a:t>
            </a:r>
            <a:r>
              <a:rPr lang="en-US" b="true" sz="30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ature Extraction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4280" y="5221627"/>
            <a:ext cx="224879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MediaPipe Hands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074765" y="7297974"/>
            <a:ext cx="8084180" cy="2040777"/>
            <a:chOff x="0" y="0"/>
            <a:chExt cx="10778906" cy="272103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778906" cy="2721036"/>
              <a:chOff x="0" y="0"/>
              <a:chExt cx="3131102" cy="79041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131102" cy="790418"/>
              </a:xfrm>
              <a:custGeom>
                <a:avLst/>
                <a:gdLst/>
                <a:ahLst/>
                <a:cxnLst/>
                <a:rect r="r" b="b" t="t" l="l"/>
                <a:pathLst>
                  <a:path h="790418" w="3131102">
                    <a:moveTo>
                      <a:pt x="24899" y="0"/>
                    </a:moveTo>
                    <a:lnTo>
                      <a:pt x="3106203" y="0"/>
                    </a:lnTo>
                    <a:cubicBezTo>
                      <a:pt x="3112806" y="0"/>
                      <a:pt x="3119140" y="2623"/>
                      <a:pt x="3123809" y="7293"/>
                    </a:cubicBezTo>
                    <a:cubicBezTo>
                      <a:pt x="3128479" y="11962"/>
                      <a:pt x="3131102" y="18296"/>
                      <a:pt x="3131102" y="24899"/>
                    </a:cubicBezTo>
                    <a:lnTo>
                      <a:pt x="3131102" y="765519"/>
                    </a:lnTo>
                    <a:cubicBezTo>
                      <a:pt x="3131102" y="772122"/>
                      <a:pt x="3128479" y="778456"/>
                      <a:pt x="3123809" y="783125"/>
                    </a:cubicBezTo>
                    <a:cubicBezTo>
                      <a:pt x="3119140" y="787795"/>
                      <a:pt x="3112806" y="790418"/>
                      <a:pt x="3106203" y="790418"/>
                    </a:cubicBezTo>
                    <a:lnTo>
                      <a:pt x="24899" y="790418"/>
                    </a:lnTo>
                    <a:cubicBezTo>
                      <a:pt x="18296" y="790418"/>
                      <a:pt x="11962" y="787795"/>
                      <a:pt x="7293" y="783125"/>
                    </a:cubicBezTo>
                    <a:cubicBezTo>
                      <a:pt x="2623" y="778456"/>
                      <a:pt x="0" y="772122"/>
                      <a:pt x="0" y="765519"/>
                    </a:cubicBezTo>
                    <a:lnTo>
                      <a:pt x="0" y="24899"/>
                    </a:lnTo>
                    <a:cubicBezTo>
                      <a:pt x="0" y="18296"/>
                      <a:pt x="2623" y="11962"/>
                      <a:pt x="7293" y="7293"/>
                    </a:cubicBezTo>
                    <a:cubicBezTo>
                      <a:pt x="11962" y="2623"/>
                      <a:pt x="18296" y="0"/>
                      <a:pt x="24899" y="0"/>
                    </a:cubicBezTo>
                    <a:close/>
                  </a:path>
                </a:pathLst>
              </a:custGeom>
              <a:solidFill>
                <a:srgbClr val="1E3A8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131102" cy="8285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0" y="491165"/>
              <a:ext cx="10778906" cy="784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50"/>
                </a:lnSpc>
              </a:pPr>
              <a:r>
                <a:rPr lang="en-US" b="true" sz="3536">
                  <a:solidFill>
                    <a:srgbClr val="FFFFFF"/>
                  </a:solidFill>
                  <a:latin typeface="Open Sans 2 Bold"/>
                  <a:ea typeface="Open Sans 2 Bold"/>
                  <a:cs typeface="Open Sans 2 Bold"/>
                  <a:sym typeface="Open Sans 2 Bold"/>
                </a:rPr>
                <a:t>Experiment Manifests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273303" y="1658743"/>
              <a:ext cx="8513569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YAML Configs / Git / Metrics / Confusion Matrices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4552950" y="4779468"/>
            <a:ext cx="1713601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>
            <a:off x="9790801" y="4779468"/>
            <a:ext cx="1713601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 flipH="true">
            <a:off x="8028676" y="5827218"/>
            <a:ext cx="0" cy="1470755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>
            <a:off x="13277797" y="5827218"/>
            <a:ext cx="0" cy="1470755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flipV="true">
            <a:off x="14996175" y="4779468"/>
            <a:ext cx="2248048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1" id="31"/>
          <p:cNvSpPr txBox="true"/>
          <p:nvPr/>
        </p:nvSpPr>
        <p:spPr>
          <a:xfrm rot="0">
            <a:off x="15142952" y="4355118"/>
            <a:ext cx="20020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model.pt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487961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529772" y="3729480"/>
            <a:ext cx="2296456" cy="2460488"/>
            <a:chOff x="0" y="0"/>
            <a:chExt cx="1032962" cy="11067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2962" cy="1106745"/>
            </a:xfrm>
            <a:custGeom>
              <a:avLst/>
              <a:gdLst/>
              <a:ahLst/>
              <a:cxnLst/>
              <a:rect r="r" b="b" t="t" l="l"/>
              <a:pathLst>
                <a:path h="1106745" w="1032962">
                  <a:moveTo>
                    <a:pt x="87652" y="0"/>
                  </a:moveTo>
                  <a:lnTo>
                    <a:pt x="945309" y="0"/>
                  </a:lnTo>
                  <a:cubicBezTo>
                    <a:pt x="993718" y="0"/>
                    <a:pt x="1032962" y="39243"/>
                    <a:pt x="1032962" y="87652"/>
                  </a:cubicBezTo>
                  <a:lnTo>
                    <a:pt x="1032962" y="1019092"/>
                  </a:lnTo>
                  <a:cubicBezTo>
                    <a:pt x="1032962" y="1067501"/>
                    <a:pt x="993718" y="1106745"/>
                    <a:pt x="945309" y="1106745"/>
                  </a:cubicBezTo>
                  <a:lnTo>
                    <a:pt x="87652" y="1106745"/>
                  </a:lnTo>
                  <a:cubicBezTo>
                    <a:pt x="39243" y="1106745"/>
                    <a:pt x="0" y="1067501"/>
                    <a:pt x="0" y="1019092"/>
                  </a:cubicBezTo>
                  <a:lnTo>
                    <a:pt x="0" y="87652"/>
                  </a:lnTo>
                  <a:cubicBezTo>
                    <a:pt x="0" y="39243"/>
                    <a:pt x="39243" y="0"/>
                    <a:pt x="87652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32962" cy="1144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52755" y="4960194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0" y="0"/>
                </a:lnTo>
                <a:lnTo>
                  <a:pt x="7336950" y="5616102"/>
                </a:lnTo>
                <a:lnTo>
                  <a:pt x="0" y="56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171898" y="7040033"/>
            <a:ext cx="8084180" cy="2040777"/>
            <a:chOff x="0" y="0"/>
            <a:chExt cx="3131102" cy="7904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31102" cy="790418"/>
            </a:xfrm>
            <a:custGeom>
              <a:avLst/>
              <a:gdLst/>
              <a:ahLst/>
              <a:cxnLst/>
              <a:rect r="r" b="b" t="t" l="l"/>
              <a:pathLst>
                <a:path h="790418" w="3131102">
                  <a:moveTo>
                    <a:pt x="24899" y="0"/>
                  </a:moveTo>
                  <a:lnTo>
                    <a:pt x="3106203" y="0"/>
                  </a:lnTo>
                  <a:cubicBezTo>
                    <a:pt x="3112806" y="0"/>
                    <a:pt x="3119140" y="2623"/>
                    <a:pt x="3123809" y="7293"/>
                  </a:cubicBezTo>
                  <a:cubicBezTo>
                    <a:pt x="3128479" y="11962"/>
                    <a:pt x="3131102" y="18296"/>
                    <a:pt x="3131102" y="24899"/>
                  </a:cubicBezTo>
                  <a:lnTo>
                    <a:pt x="3131102" y="765519"/>
                  </a:lnTo>
                  <a:cubicBezTo>
                    <a:pt x="3131102" y="772122"/>
                    <a:pt x="3128479" y="778456"/>
                    <a:pt x="3123809" y="783125"/>
                  </a:cubicBezTo>
                  <a:cubicBezTo>
                    <a:pt x="3119140" y="787795"/>
                    <a:pt x="3112806" y="790418"/>
                    <a:pt x="3106203" y="790418"/>
                  </a:cubicBezTo>
                  <a:lnTo>
                    <a:pt x="24899" y="790418"/>
                  </a:lnTo>
                  <a:cubicBezTo>
                    <a:pt x="18296" y="790418"/>
                    <a:pt x="11962" y="787795"/>
                    <a:pt x="7293" y="783125"/>
                  </a:cubicBezTo>
                  <a:cubicBezTo>
                    <a:pt x="2623" y="778456"/>
                    <a:pt x="0" y="772122"/>
                    <a:pt x="0" y="765519"/>
                  </a:cubicBezTo>
                  <a:lnTo>
                    <a:pt x="0" y="24899"/>
                  </a:lnTo>
                  <a:cubicBezTo>
                    <a:pt x="0" y="18296"/>
                    <a:pt x="2623" y="11962"/>
                    <a:pt x="7293" y="7293"/>
                  </a:cubicBezTo>
                  <a:cubicBezTo>
                    <a:pt x="11962" y="2623"/>
                    <a:pt x="18296" y="0"/>
                    <a:pt x="24899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131102" cy="828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40733" y="3730420"/>
            <a:ext cx="2296456" cy="2460488"/>
            <a:chOff x="0" y="0"/>
            <a:chExt cx="1032962" cy="11067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2962" cy="1106745"/>
            </a:xfrm>
            <a:custGeom>
              <a:avLst/>
              <a:gdLst/>
              <a:ahLst/>
              <a:cxnLst/>
              <a:rect r="r" b="b" t="t" l="l"/>
              <a:pathLst>
                <a:path h="1106745" w="1032962">
                  <a:moveTo>
                    <a:pt x="87652" y="0"/>
                  </a:moveTo>
                  <a:lnTo>
                    <a:pt x="945309" y="0"/>
                  </a:lnTo>
                  <a:cubicBezTo>
                    <a:pt x="993718" y="0"/>
                    <a:pt x="1032962" y="39243"/>
                    <a:pt x="1032962" y="87652"/>
                  </a:cubicBezTo>
                  <a:lnTo>
                    <a:pt x="1032962" y="1019092"/>
                  </a:lnTo>
                  <a:cubicBezTo>
                    <a:pt x="1032962" y="1067501"/>
                    <a:pt x="993718" y="1106745"/>
                    <a:pt x="945309" y="1106745"/>
                  </a:cubicBezTo>
                  <a:lnTo>
                    <a:pt x="87652" y="1106745"/>
                  </a:lnTo>
                  <a:cubicBezTo>
                    <a:pt x="39243" y="1106745"/>
                    <a:pt x="0" y="1067501"/>
                    <a:pt x="0" y="1019092"/>
                  </a:cubicBezTo>
                  <a:lnTo>
                    <a:pt x="0" y="87652"/>
                  </a:lnTo>
                  <a:cubicBezTo>
                    <a:pt x="0" y="39243"/>
                    <a:pt x="39243" y="0"/>
                    <a:pt x="87652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32962" cy="1144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51789" y="3730420"/>
            <a:ext cx="2296456" cy="2460488"/>
            <a:chOff x="0" y="0"/>
            <a:chExt cx="1032962" cy="110674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2962" cy="1106745"/>
            </a:xfrm>
            <a:custGeom>
              <a:avLst/>
              <a:gdLst/>
              <a:ahLst/>
              <a:cxnLst/>
              <a:rect r="r" b="b" t="t" l="l"/>
              <a:pathLst>
                <a:path h="1106745" w="1032962">
                  <a:moveTo>
                    <a:pt x="87652" y="0"/>
                  </a:moveTo>
                  <a:lnTo>
                    <a:pt x="945309" y="0"/>
                  </a:lnTo>
                  <a:cubicBezTo>
                    <a:pt x="993718" y="0"/>
                    <a:pt x="1032962" y="39243"/>
                    <a:pt x="1032962" y="87652"/>
                  </a:cubicBezTo>
                  <a:lnTo>
                    <a:pt x="1032962" y="1019092"/>
                  </a:lnTo>
                  <a:cubicBezTo>
                    <a:pt x="1032962" y="1067501"/>
                    <a:pt x="993718" y="1106745"/>
                    <a:pt x="945309" y="1106745"/>
                  </a:cubicBezTo>
                  <a:lnTo>
                    <a:pt x="87652" y="1106745"/>
                  </a:lnTo>
                  <a:cubicBezTo>
                    <a:pt x="39243" y="1106745"/>
                    <a:pt x="0" y="1067501"/>
                    <a:pt x="0" y="1019092"/>
                  </a:cubicBezTo>
                  <a:lnTo>
                    <a:pt x="0" y="87652"/>
                  </a:lnTo>
                  <a:cubicBezTo>
                    <a:pt x="0" y="39243"/>
                    <a:pt x="39243" y="0"/>
                    <a:pt x="87652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32962" cy="1144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844" y="3729480"/>
            <a:ext cx="2296456" cy="2460488"/>
            <a:chOff x="0" y="0"/>
            <a:chExt cx="1032962" cy="11067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2962" cy="1106745"/>
            </a:xfrm>
            <a:custGeom>
              <a:avLst/>
              <a:gdLst/>
              <a:ahLst/>
              <a:cxnLst/>
              <a:rect r="r" b="b" t="t" l="l"/>
              <a:pathLst>
                <a:path h="1106745" w="1032962">
                  <a:moveTo>
                    <a:pt x="87652" y="0"/>
                  </a:moveTo>
                  <a:lnTo>
                    <a:pt x="945309" y="0"/>
                  </a:lnTo>
                  <a:cubicBezTo>
                    <a:pt x="993718" y="0"/>
                    <a:pt x="1032962" y="39243"/>
                    <a:pt x="1032962" y="87652"/>
                  </a:cubicBezTo>
                  <a:lnTo>
                    <a:pt x="1032962" y="1019092"/>
                  </a:lnTo>
                  <a:cubicBezTo>
                    <a:pt x="1032962" y="1067501"/>
                    <a:pt x="993718" y="1106745"/>
                    <a:pt x="945309" y="1106745"/>
                  </a:cubicBezTo>
                  <a:lnTo>
                    <a:pt x="87652" y="1106745"/>
                  </a:lnTo>
                  <a:cubicBezTo>
                    <a:pt x="39243" y="1106745"/>
                    <a:pt x="0" y="1067501"/>
                    <a:pt x="0" y="1019092"/>
                  </a:cubicBezTo>
                  <a:lnTo>
                    <a:pt x="0" y="87652"/>
                  </a:lnTo>
                  <a:cubicBezTo>
                    <a:pt x="0" y="39243"/>
                    <a:pt x="39243" y="0"/>
                    <a:pt x="87652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32962" cy="1144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2826228" y="4959724"/>
            <a:ext cx="2514505" cy="939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7637189" y="4960664"/>
            <a:ext cx="2514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1" id="21"/>
          <p:cNvSpPr/>
          <p:nvPr/>
        </p:nvSpPr>
        <p:spPr>
          <a:xfrm flipV="true">
            <a:off x="12448244" y="4959724"/>
            <a:ext cx="2514600" cy="939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pic>
        <p:nvPicPr>
          <p:cNvPr name="Picture 22" id="22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735" t="0" r="0" b="1244"/>
          <a:stretch>
            <a:fillRect/>
          </a:stretch>
        </p:blipFill>
        <p:spPr>
          <a:xfrm flipH="false" flipV="false" rot="0">
            <a:off x="8142014" y="3009874"/>
            <a:ext cx="1485900" cy="1847850"/>
          </a:xfrm>
          <a:prstGeom prst="rect">
            <a:avLst/>
          </a:prstGeom>
        </p:spPr>
      </p:pic>
      <p:pic>
        <p:nvPicPr>
          <p:cNvPr name="Picture 23" id="23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512"/>
          <a:stretch>
            <a:fillRect/>
          </a:stretch>
        </p:blipFill>
        <p:spPr>
          <a:xfrm flipH="false" flipV="false" rot="0">
            <a:off x="3350008" y="3009874"/>
            <a:ext cx="1485900" cy="1847850"/>
          </a:xfrm>
          <a:prstGeom prst="rect">
            <a:avLst/>
          </a:prstGeom>
        </p:spPr>
      </p:pic>
      <p:sp>
        <p:nvSpPr>
          <p:cNvPr name="Freeform 24" id="24"/>
          <p:cNvSpPr/>
          <p:nvPr/>
        </p:nvSpPr>
        <p:spPr>
          <a:xfrm>
            <a:off x="13256078" y="6189968"/>
            <a:ext cx="2854995" cy="1870453"/>
          </a:xfrm>
          <a:custGeom>
            <a:avLst/>
            <a:gdLst/>
            <a:ahLst/>
            <a:cxnLst/>
            <a:rect r="r" b="b" t="t" l="l"/>
            <a:pathLst>
              <a:path h="1870453" w="2854995">
                <a:moveTo>
                  <a:pt x="2854994" y="0"/>
                </a:moveTo>
                <a:lnTo>
                  <a:pt x="1656097" y="0"/>
                </a:lnTo>
                <a:cubicBezTo>
                  <a:pt x="1529844" y="0"/>
                  <a:pt x="1427497" y="102348"/>
                  <a:pt x="1427497" y="228600"/>
                </a:cubicBezTo>
                <a:lnTo>
                  <a:pt x="1427497" y="1641853"/>
                </a:lnTo>
                <a:cubicBezTo>
                  <a:pt x="1427497" y="1702482"/>
                  <a:pt x="1403413" y="1760627"/>
                  <a:pt x="1360541" y="1803498"/>
                </a:cubicBezTo>
                <a:cubicBezTo>
                  <a:pt x="1317671" y="1846369"/>
                  <a:pt x="1259526" y="1870453"/>
                  <a:pt x="1198897" y="1870453"/>
                </a:cubicBezTo>
                <a:lnTo>
                  <a:pt x="0" y="1870453"/>
                </a:lnTo>
              </a:path>
            </a:pathLst>
          </a:cu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5" id="25"/>
          <p:cNvSpPr/>
          <p:nvPr/>
        </p:nvSpPr>
        <p:spPr>
          <a:xfrm>
            <a:off x="1678000" y="6189968"/>
            <a:ext cx="3493898" cy="1870453"/>
          </a:xfrm>
          <a:custGeom>
            <a:avLst/>
            <a:gdLst/>
            <a:ahLst/>
            <a:cxnLst/>
            <a:rect r="r" b="b" t="t" l="l"/>
            <a:pathLst>
              <a:path h="1870453" w="3493898">
                <a:moveTo>
                  <a:pt x="3493898" y="1870453"/>
                </a:moveTo>
                <a:lnTo>
                  <a:pt x="1975549" y="1870453"/>
                </a:lnTo>
                <a:cubicBezTo>
                  <a:pt x="1914921" y="1870453"/>
                  <a:pt x="1856775" y="1846369"/>
                  <a:pt x="1813904" y="1803498"/>
                </a:cubicBezTo>
                <a:cubicBezTo>
                  <a:pt x="1771034" y="1760627"/>
                  <a:pt x="1746949" y="1702482"/>
                  <a:pt x="1746949" y="1641853"/>
                </a:cubicBezTo>
                <a:lnTo>
                  <a:pt x="1746949" y="228600"/>
                </a:lnTo>
                <a:cubicBezTo>
                  <a:pt x="1746949" y="167972"/>
                  <a:pt x="1722865" y="109827"/>
                  <a:pt x="1679994" y="66956"/>
                </a:cubicBezTo>
                <a:cubicBezTo>
                  <a:pt x="1637123" y="24085"/>
                  <a:pt x="1578978" y="0"/>
                  <a:pt x="1518349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1E3A8A"/>
            </a:solidFill>
            <a:prstDash val="solid"/>
            <a:headEnd type="none" len="sm" w="sm"/>
            <a:tailEnd type="triangle" len="med" w="lg"/>
          </a:ln>
        </p:spPr>
      </p:sp>
      <p:pic>
        <p:nvPicPr>
          <p:cNvPr name="Picture 26" id="26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54733" r="2472" b="2040"/>
          <a:stretch>
            <a:fillRect/>
          </a:stretch>
        </p:blipFill>
        <p:spPr>
          <a:xfrm flipH="false" flipV="false" rot="0">
            <a:off x="12687295" y="3729480"/>
            <a:ext cx="2036498" cy="1128244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3026604" y="880084"/>
            <a:ext cx="4232696" cy="1272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5400" spc="-14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Inference</a:t>
            </a:r>
          </a:p>
          <a:p>
            <a:pPr algn="l" marL="0" indent="0" lvl="0">
              <a:lnSpc>
                <a:spcPts val="4860"/>
              </a:lnSpc>
            </a:pPr>
            <a:r>
              <a:rPr lang="en-US" b="true" sz="5400" spc="-140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Architecture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9772" y="3840347"/>
            <a:ext cx="2296456" cy="106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b="true" sz="3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Mobile Client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1746" y="5204711"/>
            <a:ext cx="1332508" cy="62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0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Expo &amp; </a:t>
            </a:r>
          </a:p>
          <a:p>
            <a:pPr algn="ctr">
              <a:lnSpc>
                <a:spcPts val="2531"/>
              </a:lnSpc>
            </a:pPr>
            <a:r>
              <a:rPr lang="en-US" sz="180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React Native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35003" y="7494636"/>
            <a:ext cx="375797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Top-K Prediction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93350" y="8282622"/>
            <a:ext cx="464127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“no” 0.87 / “before” 0.06 / “cool” 0.03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40733" y="3841286"/>
            <a:ext cx="2296456" cy="106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FastAPI</a:t>
            </a:r>
          </a:p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Server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77406" y="5205650"/>
            <a:ext cx="823110" cy="3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0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Uvicorn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51789" y="3841286"/>
            <a:ext cx="2296456" cy="106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MediaPipe</a:t>
            </a:r>
          </a:p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Hands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02430" y="5205650"/>
            <a:ext cx="1395174" cy="62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0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21 key </a:t>
            </a:r>
          </a:p>
          <a:p>
            <a:pPr algn="ctr">
              <a:lnSpc>
                <a:spcPts val="2531"/>
              </a:lnSpc>
            </a:pPr>
            <a:r>
              <a:rPr lang="en-US" sz="180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points/frame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962844" y="3789816"/>
            <a:ext cx="2296456" cy="106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GRU + Attention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774229" y="5205650"/>
            <a:ext cx="673687" cy="3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1"/>
              </a:lnSpc>
            </a:pPr>
            <a:r>
              <a:rPr lang="en-US" sz="1808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Model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08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1402" y="1278404"/>
            <a:ext cx="9725196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i="true">
                <a:solidFill>
                  <a:srgbClr val="28292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Can </a:t>
            </a:r>
            <a:r>
              <a:rPr lang="en-US" b="true" sz="2800" i="true">
                <a:solidFill>
                  <a:srgbClr val="28292A"/>
                </a:solidFill>
                <a:latin typeface="Open Sans 2 Bold Italics"/>
                <a:ea typeface="Open Sans 2 Bold Italics"/>
                <a:cs typeface="Open Sans 2 Bold Italics"/>
                <a:sym typeface="Open Sans 2 Bold Italics"/>
              </a:rPr>
              <a:t>hand-landmark</a:t>
            </a:r>
            <a:r>
              <a:rPr lang="en-US" sz="2800" i="true">
                <a:solidFill>
                  <a:srgbClr val="28292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 sequences provide enough  information for a temporal model to classify short ASL video clips into </a:t>
            </a:r>
            <a:r>
              <a:rPr lang="en-US" b="true" sz="2800" i="true">
                <a:solidFill>
                  <a:srgbClr val="28292A"/>
                </a:solidFill>
                <a:latin typeface="Open Sans 2 Bold Italics"/>
                <a:ea typeface="Open Sans 2 Bold Italics"/>
                <a:cs typeface="Open Sans 2 Bold Italics"/>
                <a:sym typeface="Open Sans 2 Bold Italics"/>
              </a:rPr>
              <a:t>word glosses</a:t>
            </a:r>
            <a:r>
              <a:rPr lang="en-US" sz="2800" i="true">
                <a:solidFill>
                  <a:srgbClr val="28292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10311" y="522861"/>
            <a:ext cx="4491028" cy="51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RESEARCH QUESTION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3769508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467409" y="4045733"/>
            <a:ext cx="5280267" cy="51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E3A8A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EXPERIMENTAL APPROACH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305336" y="4908302"/>
            <a:ext cx="3789562" cy="2074145"/>
            <a:chOff x="0" y="0"/>
            <a:chExt cx="1438855" cy="7875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32687" y="0"/>
                  </a:moveTo>
                  <a:lnTo>
                    <a:pt x="1406168" y="0"/>
                  </a:lnTo>
                  <a:cubicBezTo>
                    <a:pt x="1424221" y="0"/>
                    <a:pt x="1438855" y="14635"/>
                    <a:pt x="1438855" y="32687"/>
                  </a:cubicBezTo>
                  <a:lnTo>
                    <a:pt x="1438855" y="754843"/>
                  </a:lnTo>
                  <a:cubicBezTo>
                    <a:pt x="1438855" y="772896"/>
                    <a:pt x="1424221" y="787530"/>
                    <a:pt x="1406168" y="787530"/>
                  </a:cubicBezTo>
                  <a:lnTo>
                    <a:pt x="32687" y="787530"/>
                  </a:lnTo>
                  <a:cubicBezTo>
                    <a:pt x="14635" y="787530"/>
                    <a:pt x="0" y="772896"/>
                    <a:pt x="0" y="754843"/>
                  </a:cubicBezTo>
                  <a:lnTo>
                    <a:pt x="0" y="32687"/>
                  </a:lnTo>
                  <a:cubicBezTo>
                    <a:pt x="0" y="14635"/>
                    <a:pt x="14635" y="0"/>
                    <a:pt x="326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35554" y="5565645"/>
            <a:ext cx="29375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DATASET PREPARATION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35554" y="5227045"/>
            <a:ext cx="25511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 spc="-52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35554" y="6331694"/>
            <a:ext cx="2937539" cy="3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MediaPipe 21 keypoints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60391" y="4908302"/>
            <a:ext cx="3789562" cy="2074145"/>
            <a:chOff x="0" y="0"/>
            <a:chExt cx="1438855" cy="7875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32687" y="0"/>
                  </a:moveTo>
                  <a:lnTo>
                    <a:pt x="1406168" y="0"/>
                  </a:lnTo>
                  <a:cubicBezTo>
                    <a:pt x="1424221" y="0"/>
                    <a:pt x="1438855" y="14635"/>
                    <a:pt x="1438855" y="32687"/>
                  </a:cubicBezTo>
                  <a:lnTo>
                    <a:pt x="1438855" y="754843"/>
                  </a:lnTo>
                  <a:cubicBezTo>
                    <a:pt x="1438855" y="772896"/>
                    <a:pt x="1424221" y="787530"/>
                    <a:pt x="1406168" y="787530"/>
                  </a:cubicBezTo>
                  <a:lnTo>
                    <a:pt x="32687" y="787530"/>
                  </a:lnTo>
                  <a:cubicBezTo>
                    <a:pt x="14635" y="787530"/>
                    <a:pt x="0" y="772896"/>
                    <a:pt x="0" y="754843"/>
                  </a:cubicBezTo>
                  <a:lnTo>
                    <a:pt x="0" y="32687"/>
                  </a:lnTo>
                  <a:cubicBezTo>
                    <a:pt x="0" y="14635"/>
                    <a:pt x="14635" y="0"/>
                    <a:pt x="326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490609" y="5565645"/>
            <a:ext cx="3104091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ARCHITECTURE SELECTION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90609" y="5227045"/>
            <a:ext cx="25511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 spc="-52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0609" y="6331694"/>
            <a:ext cx="2937539" cy="3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GRU + Attention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16753" y="4868932"/>
            <a:ext cx="3789562" cy="2074145"/>
            <a:chOff x="0" y="0"/>
            <a:chExt cx="1438855" cy="7875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32687" y="0"/>
                  </a:moveTo>
                  <a:lnTo>
                    <a:pt x="1406168" y="0"/>
                  </a:lnTo>
                  <a:cubicBezTo>
                    <a:pt x="1424221" y="0"/>
                    <a:pt x="1438855" y="14635"/>
                    <a:pt x="1438855" y="32687"/>
                  </a:cubicBezTo>
                  <a:lnTo>
                    <a:pt x="1438855" y="754843"/>
                  </a:lnTo>
                  <a:cubicBezTo>
                    <a:pt x="1438855" y="772896"/>
                    <a:pt x="1424221" y="787530"/>
                    <a:pt x="1406168" y="787530"/>
                  </a:cubicBezTo>
                  <a:lnTo>
                    <a:pt x="32687" y="787530"/>
                  </a:lnTo>
                  <a:cubicBezTo>
                    <a:pt x="14635" y="787530"/>
                    <a:pt x="0" y="772896"/>
                    <a:pt x="0" y="754843"/>
                  </a:cubicBezTo>
                  <a:lnTo>
                    <a:pt x="0" y="32687"/>
                  </a:lnTo>
                  <a:cubicBezTo>
                    <a:pt x="0" y="14635"/>
                    <a:pt x="14635" y="0"/>
                    <a:pt x="326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346970" y="5526275"/>
            <a:ext cx="29375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SEQUENCE SWEEP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6970" y="5187675"/>
            <a:ext cx="25511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 spc="-52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6970" y="6292324"/>
            <a:ext cx="2937539" cy="3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64 frames / stability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304683" y="7326617"/>
            <a:ext cx="3789562" cy="2074145"/>
            <a:chOff x="0" y="0"/>
            <a:chExt cx="1438855" cy="787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32687" y="0"/>
                  </a:moveTo>
                  <a:lnTo>
                    <a:pt x="1406168" y="0"/>
                  </a:lnTo>
                  <a:cubicBezTo>
                    <a:pt x="1424221" y="0"/>
                    <a:pt x="1438855" y="14635"/>
                    <a:pt x="1438855" y="32687"/>
                  </a:cubicBezTo>
                  <a:lnTo>
                    <a:pt x="1438855" y="754843"/>
                  </a:lnTo>
                  <a:cubicBezTo>
                    <a:pt x="1438855" y="772896"/>
                    <a:pt x="1424221" y="787530"/>
                    <a:pt x="1406168" y="787530"/>
                  </a:cubicBezTo>
                  <a:lnTo>
                    <a:pt x="32687" y="787530"/>
                  </a:lnTo>
                  <a:cubicBezTo>
                    <a:pt x="14635" y="787530"/>
                    <a:pt x="0" y="772896"/>
                    <a:pt x="0" y="754843"/>
                  </a:cubicBezTo>
                  <a:lnTo>
                    <a:pt x="0" y="32687"/>
                  </a:lnTo>
                  <a:cubicBezTo>
                    <a:pt x="0" y="14635"/>
                    <a:pt x="14635" y="0"/>
                    <a:pt x="326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634900" y="7983960"/>
            <a:ext cx="29375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WLASL30 VALIDATION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34900" y="7645360"/>
            <a:ext cx="25511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 spc="-52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34900" y="8750009"/>
            <a:ext cx="2937539" cy="3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5-Fol</a:t>
            </a: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d CV + multi-seed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159737" y="7326617"/>
            <a:ext cx="3789562" cy="2074145"/>
            <a:chOff x="0" y="0"/>
            <a:chExt cx="1438855" cy="78753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32687" y="0"/>
                  </a:moveTo>
                  <a:lnTo>
                    <a:pt x="1406168" y="0"/>
                  </a:lnTo>
                  <a:cubicBezTo>
                    <a:pt x="1424221" y="0"/>
                    <a:pt x="1438855" y="14635"/>
                    <a:pt x="1438855" y="32687"/>
                  </a:cubicBezTo>
                  <a:lnTo>
                    <a:pt x="1438855" y="754843"/>
                  </a:lnTo>
                  <a:cubicBezTo>
                    <a:pt x="1438855" y="772896"/>
                    <a:pt x="1424221" y="787530"/>
                    <a:pt x="1406168" y="787530"/>
                  </a:cubicBezTo>
                  <a:lnTo>
                    <a:pt x="32687" y="787530"/>
                  </a:lnTo>
                  <a:cubicBezTo>
                    <a:pt x="14635" y="787530"/>
                    <a:pt x="0" y="772896"/>
                    <a:pt x="0" y="754843"/>
                  </a:cubicBezTo>
                  <a:lnTo>
                    <a:pt x="0" y="32687"/>
                  </a:lnTo>
                  <a:cubicBezTo>
                    <a:pt x="0" y="14635"/>
                    <a:pt x="14635" y="0"/>
                    <a:pt x="326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489955" y="7983960"/>
            <a:ext cx="29375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CROSS DATASET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89955" y="7645360"/>
            <a:ext cx="25511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 spc="-52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89955" y="8750009"/>
            <a:ext cx="2937539" cy="3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MS-ASL50 generalisation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2016099" y="7287247"/>
            <a:ext cx="3789562" cy="2074145"/>
            <a:chOff x="0" y="0"/>
            <a:chExt cx="1438855" cy="7875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32687" y="0"/>
                  </a:moveTo>
                  <a:lnTo>
                    <a:pt x="1406168" y="0"/>
                  </a:lnTo>
                  <a:cubicBezTo>
                    <a:pt x="1424221" y="0"/>
                    <a:pt x="1438855" y="14635"/>
                    <a:pt x="1438855" y="32687"/>
                  </a:cubicBezTo>
                  <a:lnTo>
                    <a:pt x="1438855" y="754843"/>
                  </a:lnTo>
                  <a:cubicBezTo>
                    <a:pt x="1438855" y="772896"/>
                    <a:pt x="1424221" y="787530"/>
                    <a:pt x="1406168" y="787530"/>
                  </a:cubicBezTo>
                  <a:lnTo>
                    <a:pt x="32687" y="787530"/>
                  </a:lnTo>
                  <a:cubicBezTo>
                    <a:pt x="14635" y="787530"/>
                    <a:pt x="0" y="772896"/>
                    <a:pt x="0" y="754843"/>
                  </a:cubicBezTo>
                  <a:lnTo>
                    <a:pt x="0" y="32687"/>
                  </a:lnTo>
                  <a:cubicBezTo>
                    <a:pt x="0" y="14635"/>
                    <a:pt x="14635" y="0"/>
                    <a:pt x="326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346317" y="7944590"/>
            <a:ext cx="2937539" cy="340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0"/>
              </a:lnSpc>
            </a:pPr>
            <a:r>
              <a:rPr lang="en-US" sz="2000" spc="-50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VOCABULARY SCALING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46317" y="7605990"/>
            <a:ext cx="255119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b="true" sz="2000" spc="-52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06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46317" y="8710639"/>
            <a:ext cx="2937539" cy="313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899" spc="-47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WLASL 30 → 1500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3364" y="2403316"/>
            <a:ext cx="16230600" cy="421005"/>
            <a:chOff x="0" y="0"/>
            <a:chExt cx="6162582" cy="159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3364" y="2403316"/>
            <a:ext cx="16230600" cy="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03364" y="321738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03364" y="361997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03364" y="402256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803364" y="441309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803364" y="4768055"/>
            <a:ext cx="16230600" cy="421005"/>
            <a:chOff x="0" y="0"/>
            <a:chExt cx="6162582" cy="1598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03364" y="477758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03364" y="558212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803364" y="5975190"/>
            <a:ext cx="16230600" cy="421005"/>
            <a:chOff x="0" y="0"/>
            <a:chExt cx="6162582" cy="1598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03364" y="598471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803364" y="6789259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803364" y="7181054"/>
            <a:ext cx="16230600" cy="421005"/>
            <a:chOff x="0" y="0"/>
            <a:chExt cx="6162582" cy="1598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4" id="24"/>
          <p:cNvSpPr/>
          <p:nvPr/>
        </p:nvSpPr>
        <p:spPr>
          <a:xfrm>
            <a:off x="803364" y="799512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803364" y="839771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803364" y="8800303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803364" y="9190828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440080" y="9863708"/>
            <a:ext cx="228747" cy="218025"/>
            <a:chOff x="0" y="0"/>
            <a:chExt cx="812800" cy="774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856716" y="787026"/>
            <a:ext cx="317724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3364" y="786763"/>
            <a:ext cx="5196426" cy="39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EXPERIMENTAL RESULTS - DETAILED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3364" y="2053431"/>
            <a:ext cx="29528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 / CONDITION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483427" y="2053431"/>
            <a:ext cx="73870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SETUP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27842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TOP-1 (%)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58486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TOP-5 (%)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789769" y="2053431"/>
            <a:ext cx="69951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NOTE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6650" y="2498566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02 ARCHITECTURE SELECTION (WLASL30, multi-seed)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5861" y="288147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LSTM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83427" y="288147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27842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41.18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58486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67.65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89769" y="288147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 recurrent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5861" y="328406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83427" y="328406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27842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38.24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58486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76.47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89769" y="328406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plain recurrent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65861" y="368665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 + Features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483427" y="368665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hand-engineered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27842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47.06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458486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79.41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789769" y="368665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enriched input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5861" y="408924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GRU + Attention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83427" y="411781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temporal attention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127842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58.82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58486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91.18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789769" y="4117815"/>
            <a:ext cx="145855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WINNER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65861" y="447976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Transformer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483427" y="447976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self-attention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27842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50.00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458486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73.53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789769" y="447976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underfits low-data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66650" y="4863305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04 STATISTICAL VALIDATION (WLASL30 Winner)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1" y="524621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5-Fold CV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83427" y="524621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WLASL100 → 30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27842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63.85 ± 4.50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58486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86.46 ± 2.04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89769" y="524621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headline number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65861" y="564880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Multi-seed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4483427" y="564880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fixed split / 3 seeds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27842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458486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3789769" y="564880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stability check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866650" y="6070440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05 CROSS-DATASET GENERALISATION (no architectural changes)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65861" y="645334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WLASL30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483427" y="645334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30 classes / 34 test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127842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458486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789769" y="645334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65861" y="6855934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MS-ASL50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483427" y="6855934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50 classes / 236 test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127842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70.20 ± 2.89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458486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90.54 ± 0.89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3789769" y="6855934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σ ≈ WLASL30 σ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66650" y="7276304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06 VOCABULARY SCALING (WLASL, single seed)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65861" y="765920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 classes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483427" y="765920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795 train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127842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44.70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458486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70.45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789769" y="765920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−14 pp vs 30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65861" y="806179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300 classes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483427" y="806179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1,974 train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127842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28.61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458486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59.72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3789769" y="806179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log-linear regime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165861" y="846438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700 classes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483427" y="846438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3,879 train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127842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19.57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458486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42.66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789769" y="846438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instability threshold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65861" y="8866978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1000 classes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4483427" y="889555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5,122 train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127842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11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.19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458486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1.24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3789769" y="889555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−47 pp vs 30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65861" y="9257503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1500 classes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4483427" y="925750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6,864 train 4.6 vid/class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127842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9.76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458486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28.23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3789769" y="925750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data starvation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869040" y="9841068"/>
            <a:ext cx="839494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Experiments 01 (preparation) </a:t>
            </a: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and 03 (sequence sweep, σ=0.93pp selected 64 frames) summarised in setup..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789769" y="9841068"/>
            <a:ext cx="8873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key results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7" id="117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3364" y="2403316"/>
            <a:ext cx="16230600" cy="421005"/>
            <a:chOff x="0" y="0"/>
            <a:chExt cx="6162582" cy="159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3364" y="2403316"/>
            <a:ext cx="16230600" cy="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03364" y="321738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03364" y="361997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03364" y="4022565"/>
            <a:ext cx="16230600" cy="381000"/>
            <a:chOff x="0" y="0"/>
            <a:chExt cx="6162582" cy="144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62582" cy="144662"/>
            </a:xfrm>
            <a:custGeom>
              <a:avLst/>
              <a:gdLst/>
              <a:ahLst/>
              <a:cxnLst/>
              <a:rect r="r" b="b" t="t" l="l"/>
              <a:pathLst>
                <a:path h="144662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44662"/>
                  </a:lnTo>
                  <a:lnTo>
                    <a:pt x="0" y="144662"/>
                  </a:ln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162582" cy="17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03364" y="402256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03364" y="441309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03364" y="4768055"/>
            <a:ext cx="16230600" cy="421005"/>
            <a:chOff x="0" y="0"/>
            <a:chExt cx="6162582" cy="1598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03364" y="477758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03364" y="558212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03364" y="5975190"/>
            <a:ext cx="16230600" cy="421005"/>
            <a:chOff x="0" y="0"/>
            <a:chExt cx="6162582" cy="1598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03364" y="598471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803364" y="6789259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03364" y="7181054"/>
            <a:ext cx="16230600" cy="421005"/>
            <a:chOff x="0" y="0"/>
            <a:chExt cx="6162582" cy="159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03364" y="799512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803364" y="839771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803364" y="8800303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803364" y="9190828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3440080" y="9863708"/>
            <a:ext cx="228747" cy="218025"/>
            <a:chOff x="0" y="0"/>
            <a:chExt cx="812800" cy="774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856716" y="787026"/>
            <a:ext cx="317724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3364" y="786763"/>
            <a:ext cx="5196426" cy="39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EXPERIMENTAL RESULTS - DETAILED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3364" y="2053431"/>
            <a:ext cx="29528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 / CONDITION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83427" y="2053431"/>
            <a:ext cx="73870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SETUP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27842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TOP-1 (%)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58486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TOP-5 (%)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89769" y="2053431"/>
            <a:ext cx="69951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NOTE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6650" y="2498566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02 ARCHITECTURE SELECTION (WLASL30, multi-seed)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5861" y="288147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LSTM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83427" y="288147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27842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41.18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58486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67.65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89769" y="288147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 recurrent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5861" y="328406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83427" y="328406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27842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38.24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458486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76.47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89769" y="328406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plain recurrent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5861" y="368665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 + Features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483427" y="368665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hand-engineered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27842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47.06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58486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79.41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89769" y="368665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enriched input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65861" y="408924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GRU + Attention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483427" y="411781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temporal attention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27842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58.82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458486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91.18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789769" y="411781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WINNER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5861" y="447976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Transformer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483427" y="447976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self-attention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27842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50.00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58486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73.53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789769" y="447976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underfits low-data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66650" y="4863305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04 STATISTICAL VALIDATION (WLASL30 Winner)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65861" y="524621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5-Fold CV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83427" y="524621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WLASL100 → 30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27842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63.85 ± 4.50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58486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86.46 ± 2.04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789769" y="524621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headline number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65861" y="564880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Multi-seed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483427" y="564880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fixed split / 3 seeds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127842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458486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789769" y="564880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stability check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6650" y="6070440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05 CROSS-DATASET GENERALISATION (no architectural changes)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65861" y="645334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WLASL30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483427" y="645334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30 classes / 34 test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127842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458486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789769" y="645334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65861" y="6855934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MS-ASL50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483427" y="6855934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50 classes / 236 test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27842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70.20 ± 2.89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458486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90.54 ± 0.89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789769" y="6855934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σ ≈ WLASL30 σ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66650" y="7276304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06 VOCABULARY SCALING (WLASL, single seed)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65861" y="765920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 classes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483427" y="765920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795 train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27842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44.70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458486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70.45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789769" y="765920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−14 pp vs 30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65861" y="806179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300 classes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483427" y="806179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1,974 train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127842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28.61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458486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59.72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789769" y="806179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log-linear regime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65861" y="846438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700 classes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483427" y="846438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3,879 train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127842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19.57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458486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42.66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789769" y="846438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instability threshold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65861" y="8866978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1000 classes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483427" y="889555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5,122 train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127842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11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.19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458486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1.24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3789769" y="889555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−47 pp vs 30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65861" y="9257503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1500 classes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483427" y="925750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6,864 train 4.6 vid/class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127842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9.76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458486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28.23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789769" y="925750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data starvation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869040" y="9841068"/>
            <a:ext cx="839494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Experiments 01 (preparation) </a:t>
            </a: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and 03 (sequence sweep, σ=0.93pp selected 64 frames) summarised in setup..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789769" y="9841068"/>
            <a:ext cx="8873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key results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2592146" y="4117815"/>
            <a:ext cx="228747" cy="218025"/>
            <a:chOff x="0" y="0"/>
            <a:chExt cx="812800" cy="7747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3364" y="2403316"/>
            <a:ext cx="16230600" cy="421005"/>
            <a:chOff x="0" y="0"/>
            <a:chExt cx="6162582" cy="159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3364" y="2403316"/>
            <a:ext cx="16230600" cy="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03364" y="321738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03364" y="361997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03364" y="4022565"/>
            <a:ext cx="16230600" cy="381000"/>
            <a:chOff x="0" y="0"/>
            <a:chExt cx="6162582" cy="144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62582" cy="144662"/>
            </a:xfrm>
            <a:custGeom>
              <a:avLst/>
              <a:gdLst/>
              <a:ahLst/>
              <a:cxnLst/>
              <a:rect r="r" b="b" t="t" l="l"/>
              <a:pathLst>
                <a:path h="144662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44662"/>
                  </a:lnTo>
                  <a:lnTo>
                    <a:pt x="0" y="144662"/>
                  </a:ln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162582" cy="17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03364" y="402256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03364" y="441309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03364" y="4768055"/>
            <a:ext cx="16230600" cy="421005"/>
            <a:chOff x="0" y="0"/>
            <a:chExt cx="6162582" cy="1598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03364" y="477758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03364" y="558212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03364" y="5975190"/>
            <a:ext cx="16230600" cy="421005"/>
            <a:chOff x="0" y="0"/>
            <a:chExt cx="6162582" cy="1598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03364" y="598471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803364" y="6789259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03364" y="7181054"/>
            <a:ext cx="16230600" cy="421005"/>
            <a:chOff x="0" y="0"/>
            <a:chExt cx="6162582" cy="1598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803364" y="799512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803364" y="839771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803364" y="8800303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803364" y="9190828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3440080" y="9863708"/>
            <a:ext cx="228747" cy="218025"/>
            <a:chOff x="0" y="0"/>
            <a:chExt cx="812800" cy="774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856716" y="787026"/>
            <a:ext cx="317724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3364" y="786763"/>
            <a:ext cx="5196426" cy="39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EXPERIMENTAL RESULTS - DETAILED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3364" y="2053431"/>
            <a:ext cx="29528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 / CONDITION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483427" y="2053431"/>
            <a:ext cx="73870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SETUP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127842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TOP-1 (%)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58486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TOP-5 (%)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89769" y="2053431"/>
            <a:ext cx="69951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NOTE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66650" y="2498566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02 ARCHITECTURE SELECTION (WLASL30, multi-seed)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5861" y="288147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LSTM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483427" y="288147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27842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41.18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58486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67.65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89769" y="288147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 recurrent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5861" y="328406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483427" y="328406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27842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38.24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458486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76.47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89769" y="328406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plain recurrent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5861" y="368665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 + Features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483427" y="368665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hand-engineered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127842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47.06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458486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79.41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789769" y="368665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enriched input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65861" y="408924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GRU + Attention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483427" y="411781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temporal attention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127842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58.82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458486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91.18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3789769" y="411781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WINNER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5861" y="447976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Transformer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483427" y="447976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self-attention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127842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50.00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458486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73.53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789769" y="447976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underfits low-data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66650" y="4863305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04 STATISTICAL VALIDATION (WLASL30 Winner)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65861" y="524621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5-Fold CV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83427" y="524621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WLASL100 → 30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127842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63.85 ± 4.50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58486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86.46 ± 2.04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789769" y="524621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headline number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65861" y="564880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Multi-seed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483427" y="564880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fixed split / 3 seeds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127842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458486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789769" y="564880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stability check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866650" y="6070440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05 CROSS-DATASET GENERALISATION (no architectural changes)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65861" y="645334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WLASL30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483427" y="645334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30 classes / 34 test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127842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458486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789769" y="645334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65861" y="6855934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MS-ASL50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483427" y="6855934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50 classes / 236 test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127842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70.20 ± 2.89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458486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90.54 ± 0.89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789769" y="6855934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σ ≈ WLASL30 σ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66650" y="7276304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06 VOCABULARY SCALING (WLASL, single seed)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65861" y="765920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 classes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4483427" y="765920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795 train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27842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44.70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458486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70.45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789769" y="765920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−14 pp vs 30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65861" y="806179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300 classes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4483427" y="806179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1,974 train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127842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28.61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458486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59.72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3789769" y="806179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log-linear regime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65861" y="846438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700 classes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4483427" y="846438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3,879 train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127842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19.57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458486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42.66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3789769" y="846438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instability threshold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65861" y="8866978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1000 classes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483427" y="889555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5,122 train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127842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11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.19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458486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1.24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3789769" y="889555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−47 pp vs 30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65861" y="9257503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1500 classes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483427" y="925750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6,864 train 4.6 vid/class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127842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9.76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458486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28.23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789769" y="925750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data starvation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4869040" y="9841068"/>
            <a:ext cx="839494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Experiments 01 (preparation) </a:t>
            </a: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and 03 (sequence sweep, σ=0.93pp selected 64 frames) summarised in setup..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789769" y="9841068"/>
            <a:ext cx="8873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key results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2592146" y="4117815"/>
            <a:ext cx="228747" cy="218025"/>
            <a:chOff x="0" y="0"/>
            <a:chExt cx="812800" cy="7747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3" id="123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3364" y="2403316"/>
            <a:ext cx="16230600" cy="421005"/>
            <a:chOff x="0" y="0"/>
            <a:chExt cx="6162582" cy="159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3364" y="2403316"/>
            <a:ext cx="16230600" cy="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03364" y="321738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03364" y="361997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03364" y="4022565"/>
            <a:ext cx="16230600" cy="381000"/>
            <a:chOff x="0" y="0"/>
            <a:chExt cx="6162582" cy="144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62582" cy="144662"/>
            </a:xfrm>
            <a:custGeom>
              <a:avLst/>
              <a:gdLst/>
              <a:ahLst/>
              <a:cxnLst/>
              <a:rect r="r" b="b" t="t" l="l"/>
              <a:pathLst>
                <a:path h="144662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44662"/>
                  </a:lnTo>
                  <a:lnTo>
                    <a:pt x="0" y="144662"/>
                  </a:ln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162582" cy="17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03364" y="402256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03364" y="441309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03364" y="4768055"/>
            <a:ext cx="16230600" cy="421005"/>
            <a:chOff x="0" y="0"/>
            <a:chExt cx="6162582" cy="1598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03364" y="477758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03364" y="558212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03364" y="5975190"/>
            <a:ext cx="16230600" cy="421005"/>
            <a:chOff x="0" y="0"/>
            <a:chExt cx="6162582" cy="1598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03364" y="598471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803364" y="6789259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03364" y="6800054"/>
            <a:ext cx="16230600" cy="381000"/>
            <a:chOff x="0" y="0"/>
            <a:chExt cx="6162582" cy="1446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62582" cy="144662"/>
            </a:xfrm>
            <a:custGeom>
              <a:avLst/>
              <a:gdLst/>
              <a:ahLst/>
              <a:cxnLst/>
              <a:rect r="r" b="b" t="t" l="l"/>
              <a:pathLst>
                <a:path h="144662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44662"/>
                  </a:lnTo>
                  <a:lnTo>
                    <a:pt x="0" y="144662"/>
                  </a:ln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162582" cy="17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3364" y="7181054"/>
            <a:ext cx="16230600" cy="421005"/>
            <a:chOff x="0" y="0"/>
            <a:chExt cx="6162582" cy="1598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803364" y="799512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803364" y="839771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803364" y="8800303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803364" y="9190828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3440080" y="9863708"/>
            <a:ext cx="228747" cy="218025"/>
            <a:chOff x="0" y="0"/>
            <a:chExt cx="812800" cy="774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856716" y="787026"/>
            <a:ext cx="317724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3364" y="786763"/>
            <a:ext cx="5196426" cy="39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EXPERIMENTAL RESULTS - DETAILED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3364" y="2053431"/>
            <a:ext cx="29528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 / CONDITION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83427" y="2053431"/>
            <a:ext cx="73870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SETUP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27842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TOP-1 (%)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58486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TOP-5 (%)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89769" y="2053431"/>
            <a:ext cx="69951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NOTE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66650" y="2498566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02 ARCHITECTURE SELECTION (WLASL30, multi-seed)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5861" y="288147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LSTM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83427" y="288147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127842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41.18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58486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67.65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789769" y="288147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 recurrent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5861" y="328406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83427" y="328406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27842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38.24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58486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76.47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89769" y="328406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plain recurrent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5861" y="368665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 + Features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483427" y="368665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hand-engineered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27842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47.06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458486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79.41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789769" y="368665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enriched input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5861" y="408924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GRU + Attention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483427" y="411781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temporal attention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27842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58.82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458486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91.18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9769" y="411781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WINNER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1" y="447976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Transformer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83427" y="447976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self-attention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27842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50.00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58486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73.53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89769" y="447976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underfits low-data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66650" y="4863305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04 STATISTICAL VALIDATION (WLASL30 Winner)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5861" y="524621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5-Fold CV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483427" y="524621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WLASL100 → 30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27842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63.85 ± 4.50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458486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86.46 ± 2.04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789769" y="524621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headline number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65861" y="564880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Multi-seed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483427" y="564880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fixed split / 3 seeds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127842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458486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789769" y="564880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stability check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66650" y="6070440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05 CROSS-DATASET GENERALISATION (no architectural changes)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65861" y="645334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WLASL30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483427" y="645334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30 classes / 34 test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127842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458486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789769" y="645334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65861" y="6855934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MS-ASL50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483427" y="6855934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50 classes / 236 test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127842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70.20 ± 2.89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458486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90.54 ± 0.89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789769" y="6855934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σ ≈ WLASL30 σ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66650" y="7276304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06 VOCABULARY SCALING (WLASL, single seed)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65861" y="765920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 classes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483427" y="765920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795 train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127842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44.70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458486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70.45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789769" y="765920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−14 pp vs 30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65861" y="806179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300 classes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483427" y="806179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1,974 train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127842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28.61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458486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59.72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789769" y="806179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log-linear regime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65861" y="846438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700 classes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483427" y="846438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3,879 train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127842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19.57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458486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42.66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789769" y="846438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instability threshold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65861" y="8866978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1000 classes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4483427" y="889555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5,122 train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9127842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11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.19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458486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1.24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789769" y="889555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−47 pp vs 30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65861" y="9257503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1500 classes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483427" y="925750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6,864 train 4.6 vid/class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127842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9.76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458486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28.23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3789769" y="925750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data starvation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4869040" y="9841068"/>
            <a:ext cx="839494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Experiments 01 (preparation) </a:t>
            </a: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and 03 (sequence sweep, σ=0.93pp selected 64 frames) summarised in setup..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3789769" y="9841068"/>
            <a:ext cx="8873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key results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2165425" y="6874984"/>
            <a:ext cx="228747" cy="218025"/>
            <a:chOff x="0" y="0"/>
            <a:chExt cx="812800" cy="7747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2592146" y="4117815"/>
            <a:ext cx="228747" cy="218025"/>
            <a:chOff x="0" y="0"/>
            <a:chExt cx="812800" cy="7747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03364" y="2403316"/>
            <a:ext cx="16230600" cy="421005"/>
            <a:chOff x="0" y="0"/>
            <a:chExt cx="6162582" cy="1598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03364" y="2403316"/>
            <a:ext cx="16230600" cy="0"/>
          </a:xfrm>
          <a:prstGeom prst="line">
            <a:avLst/>
          </a:prstGeom>
          <a:ln cap="flat" w="1905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03364" y="321738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803364" y="3619976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03364" y="4022565"/>
            <a:ext cx="16230600" cy="381000"/>
            <a:chOff x="0" y="0"/>
            <a:chExt cx="6162582" cy="1446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62582" cy="144662"/>
            </a:xfrm>
            <a:custGeom>
              <a:avLst/>
              <a:gdLst/>
              <a:ahLst/>
              <a:cxnLst/>
              <a:rect r="r" b="b" t="t" l="l"/>
              <a:pathLst>
                <a:path h="144662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44662"/>
                  </a:lnTo>
                  <a:lnTo>
                    <a:pt x="0" y="144662"/>
                  </a:ln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162582" cy="17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803364" y="402256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03364" y="441309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03364" y="4768055"/>
            <a:ext cx="16230600" cy="421005"/>
            <a:chOff x="0" y="0"/>
            <a:chExt cx="6162582" cy="1598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803364" y="4777580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03364" y="558212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803364" y="5975190"/>
            <a:ext cx="16230600" cy="421005"/>
            <a:chOff x="0" y="0"/>
            <a:chExt cx="6162582" cy="15985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03364" y="5984715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803364" y="6789259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803364" y="6800054"/>
            <a:ext cx="16230600" cy="381000"/>
            <a:chOff x="0" y="0"/>
            <a:chExt cx="6162582" cy="1446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62582" cy="144662"/>
            </a:xfrm>
            <a:custGeom>
              <a:avLst/>
              <a:gdLst/>
              <a:ahLst/>
              <a:cxnLst/>
              <a:rect r="r" b="b" t="t" l="l"/>
              <a:pathLst>
                <a:path h="144662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44662"/>
                  </a:lnTo>
                  <a:lnTo>
                    <a:pt x="0" y="144662"/>
                  </a:ln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162582" cy="173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3364" y="7181054"/>
            <a:ext cx="16230600" cy="421005"/>
            <a:chOff x="0" y="0"/>
            <a:chExt cx="6162582" cy="1598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62582" cy="159851"/>
            </a:xfrm>
            <a:custGeom>
              <a:avLst/>
              <a:gdLst/>
              <a:ahLst/>
              <a:cxnLst/>
              <a:rect r="r" b="b" t="t" l="l"/>
              <a:pathLst>
                <a:path h="159851" w="6162582">
                  <a:moveTo>
                    <a:pt x="0" y="0"/>
                  </a:moveTo>
                  <a:lnTo>
                    <a:pt x="6162582" y="0"/>
                  </a:lnTo>
                  <a:lnTo>
                    <a:pt x="6162582" y="159851"/>
                  </a:lnTo>
                  <a:lnTo>
                    <a:pt x="0" y="159851"/>
                  </a:lnTo>
                  <a:close/>
                </a:path>
              </a:pathLst>
            </a:custGeom>
            <a:solidFill>
              <a:srgbClr val="DBEAFE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6162582" cy="1884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803364" y="799512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803364" y="8397714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803364" y="8800303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803364" y="9190828"/>
            <a:ext cx="16230600" cy="0"/>
          </a:xfrm>
          <a:prstGeom prst="line">
            <a:avLst/>
          </a:prstGeom>
          <a:ln cap="flat" w="19050">
            <a:solidFill>
              <a:srgbClr val="DBEA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3440080" y="9863708"/>
            <a:ext cx="228747" cy="218025"/>
            <a:chOff x="0" y="0"/>
            <a:chExt cx="812800" cy="774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856716" y="787026"/>
            <a:ext cx="317724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3364" y="786763"/>
            <a:ext cx="5196426" cy="396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EXPERIMENTAL RESULTS - DETAILED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03364" y="2053431"/>
            <a:ext cx="295286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EXPERIMENT / CONDITION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83427" y="2053431"/>
            <a:ext cx="73870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SETUP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127842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TOP-1 (%)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58486" y="2053431"/>
            <a:ext cx="1150183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TOP-5 (%)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89769" y="2053431"/>
            <a:ext cx="69951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NOTE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66650" y="2498566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02 ARCHITECTURE SELECTION (WLASL30, multi-seed)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65861" y="288147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LSTM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483427" y="288147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127842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41.18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458486" y="288147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67.65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789769" y="288147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 recurrent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65861" y="328406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83427" y="328406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landmark-based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27842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38.24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458486" y="328406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76.47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789769" y="328406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plain recurrent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5861" y="3686651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GRU + Features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483427" y="3686651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hand-engineered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27842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47.06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458486" y="3686651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79.41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789769" y="3686651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enriched input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5861" y="408924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GRU + Attention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483427" y="411781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temporal attention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127842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58.82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458486" y="411781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91.18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789769" y="411781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WINNER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65861" y="447976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Transformer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83427" y="447976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self-attention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127842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50.00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58486" y="447976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73.53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89769" y="447976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underfits low-data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66650" y="4863305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04 STATISTICAL VALIDATION (WLASL30 Winner)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5861" y="524621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5-Fold CV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4483427" y="524621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WLASL100 → 30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127842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63.85 ± 4.50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458486" y="524621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86.46 ± 2.04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789769" y="524621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headline number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65861" y="5648800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Multi-seed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483427" y="5648800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fixed split / 3 seeds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127842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458486" y="5648800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789769" y="5648800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stability check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866650" y="6070440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05 CROSS-DATASET GENERALISATION (no architectural changes)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65861" y="6453345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WLASL30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483427" y="6453345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30 classes / 34 test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127842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58.82 ± 2.94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458486" y="6453345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78.43 ± 4.49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3789769" y="6453345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baseline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65861" y="6855934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MS-ASL50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4483427" y="6855934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50 classes / 236 test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127842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70.20 ± 2.89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458486" y="6855934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90.54 ± 0.89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789769" y="6855934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σ ≈ WLASL30 σ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66650" y="7276304"/>
            <a:ext cx="1616731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06 VOCABULARY SCALING (WLASL, single seed)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65861" y="765920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 classes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483427" y="765920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795 train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127842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44.70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458486" y="765920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70.45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789769" y="765920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−14 pp vs 30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65861" y="806179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300 classes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4483427" y="806179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1,974 train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127842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28.61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1458486" y="806179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59.72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3789769" y="806179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log-linear regime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65861" y="8464389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700 classes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4483427" y="8464389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3,879 train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127842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19.57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458486" y="8464389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42.66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789769" y="8464389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instability threshold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65861" y="8866978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1000 classes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4483427" y="889555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5,122 train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9127842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11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.19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458486" y="889555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</a:t>
            </a: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1.24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3789769" y="889555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−47 pp vs 30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165861" y="9257503"/>
            <a:ext cx="259037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1500 classes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483427" y="9257503"/>
            <a:ext cx="214949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6,864 train 4.6 vid/class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9127842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9.76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458486" y="9257503"/>
            <a:ext cx="115018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28.23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3789769" y="9257503"/>
            <a:ext cx="257077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DC2626"/>
                </a:solidFill>
                <a:latin typeface="Open Sans 2"/>
                <a:ea typeface="Open Sans 2"/>
                <a:cs typeface="Open Sans 2"/>
                <a:sym typeface="Open Sans 2"/>
              </a:rPr>
              <a:t>data starvation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4869040" y="9841068"/>
            <a:ext cx="839494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Experiments 01 (preparation) </a:t>
            </a:r>
            <a:r>
              <a:rPr lang="en-US" sz="1399" i="true">
                <a:solidFill>
                  <a:srgbClr val="8A8E95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and 03 (sequence sweep, σ=0.93pp selected 64 frames) summarised in setup..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13789769" y="9841068"/>
            <a:ext cx="887313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key results</a:t>
            </a:r>
          </a:p>
        </p:txBody>
      </p:sp>
      <p:grpSp>
        <p:nvGrpSpPr>
          <p:cNvPr name="Group 120" id="120"/>
          <p:cNvGrpSpPr/>
          <p:nvPr/>
        </p:nvGrpSpPr>
        <p:grpSpPr>
          <a:xfrm rot="0">
            <a:off x="2165425" y="6874984"/>
            <a:ext cx="228747" cy="218025"/>
            <a:chOff x="0" y="0"/>
            <a:chExt cx="812800" cy="7747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122" id="122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2592146" y="4117815"/>
            <a:ext cx="228747" cy="218025"/>
            <a:chOff x="0" y="0"/>
            <a:chExt cx="812800" cy="7747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BF7D0C"/>
            </a:solidFill>
          </p:spPr>
        </p:sp>
        <p:sp>
          <p:nvSpPr>
            <p:cNvPr name="TextBox 125" id="125"/>
            <p:cNvSpPr txBox="true"/>
            <p:nvPr/>
          </p:nvSpPr>
          <p:spPr>
            <a:xfrm>
              <a:off x="228600" y="238125"/>
              <a:ext cx="355600" cy="37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9" id="129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364" y="1919588"/>
            <a:ext cx="16230600" cy="7466076"/>
          </a:xfrm>
          <a:custGeom>
            <a:avLst/>
            <a:gdLst/>
            <a:ahLst/>
            <a:cxnLst/>
            <a:rect r="r" b="b" t="t" l="l"/>
            <a:pathLst>
              <a:path h="7466076" w="16230600">
                <a:moveTo>
                  <a:pt x="0" y="0"/>
                </a:moveTo>
                <a:lnTo>
                  <a:pt x="16230600" y="0"/>
                </a:lnTo>
                <a:lnTo>
                  <a:pt x="16230600" y="7466076"/>
                </a:lnTo>
                <a:lnTo>
                  <a:pt x="0" y="746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856716" y="787026"/>
            <a:ext cx="317724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Results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811055" y="4118292"/>
            <a:ext cx="5597002" cy="282597"/>
            <a:chOff x="0" y="0"/>
            <a:chExt cx="1545614" cy="780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602675" y="787026"/>
            <a:ext cx="4431289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Qualitative</a:t>
            </a:r>
          </a:p>
          <a:p>
            <a:pPr algn="r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3364" y="786763"/>
            <a:ext cx="422880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USER STUDY GOOGLE FORMS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364" y="1213492"/>
            <a:ext cx="577678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Si</a:t>
            </a:r>
            <a:r>
              <a:rPr lang="en-US" sz="30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gnToText real users feedback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364" y="1793620"/>
            <a:ext cx="5990078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N=15 participants | 5min survey | Likert + open-ended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364" y="3367042"/>
            <a:ext cx="4478130" cy="34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012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USABILITY DIMENSIONS (1–5 LIKERT)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364" y="4080192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F</a:t>
            </a: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irst impression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364" y="4639077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UI</a:t>
            </a: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 clarity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364" y="5195892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Result</a:t>
            </a: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 comprehension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3364" y="5754777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Perceived speed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3364" y="6311592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Perceived utility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811055" y="4677177"/>
            <a:ext cx="5597002" cy="282597"/>
            <a:chOff x="0" y="0"/>
            <a:chExt cx="1545614" cy="780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11055" y="5233992"/>
            <a:ext cx="5597002" cy="282597"/>
            <a:chOff x="0" y="0"/>
            <a:chExt cx="1545614" cy="780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811055" y="5792877"/>
            <a:ext cx="5597002" cy="282597"/>
            <a:chOff x="0" y="0"/>
            <a:chExt cx="1545614" cy="780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811055" y="6349692"/>
            <a:ext cx="5597002" cy="282597"/>
            <a:chOff x="0" y="0"/>
            <a:chExt cx="1545614" cy="780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811055" y="4130339"/>
            <a:ext cx="4737360" cy="282597"/>
            <a:chOff x="0" y="0"/>
            <a:chExt cx="1308224" cy="780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8224" cy="78039"/>
            </a:xfrm>
            <a:custGeom>
              <a:avLst/>
              <a:gdLst/>
              <a:ahLst/>
              <a:cxnLst/>
              <a:rect r="r" b="b" t="t" l="l"/>
              <a:pathLst>
                <a:path h="78039" w="1308224">
                  <a:moveTo>
                    <a:pt x="8171" y="0"/>
                  </a:moveTo>
                  <a:lnTo>
                    <a:pt x="1300053" y="0"/>
                  </a:lnTo>
                  <a:cubicBezTo>
                    <a:pt x="1302220" y="0"/>
                    <a:pt x="1304298" y="861"/>
                    <a:pt x="1305830" y="2393"/>
                  </a:cubicBezTo>
                  <a:cubicBezTo>
                    <a:pt x="1307363" y="3926"/>
                    <a:pt x="1308224" y="6004"/>
                    <a:pt x="1308224" y="8171"/>
                  </a:cubicBezTo>
                  <a:lnTo>
                    <a:pt x="1308224" y="69868"/>
                  </a:lnTo>
                  <a:cubicBezTo>
                    <a:pt x="1308224" y="72035"/>
                    <a:pt x="1307363" y="74114"/>
                    <a:pt x="1305830" y="75646"/>
                  </a:cubicBezTo>
                  <a:cubicBezTo>
                    <a:pt x="1304298" y="77178"/>
                    <a:pt x="1302220" y="78039"/>
                    <a:pt x="1300053" y="78039"/>
                  </a:cubicBezTo>
                  <a:lnTo>
                    <a:pt x="8171" y="78039"/>
                  </a:lnTo>
                  <a:cubicBezTo>
                    <a:pt x="6004" y="78039"/>
                    <a:pt x="3926" y="77178"/>
                    <a:pt x="2393" y="75646"/>
                  </a:cubicBezTo>
                  <a:cubicBezTo>
                    <a:pt x="861" y="74114"/>
                    <a:pt x="0" y="72035"/>
                    <a:pt x="0" y="69868"/>
                  </a:cubicBezTo>
                  <a:lnTo>
                    <a:pt x="0" y="8171"/>
                  </a:lnTo>
                  <a:cubicBezTo>
                    <a:pt x="0" y="6004"/>
                    <a:pt x="861" y="3926"/>
                    <a:pt x="2393" y="2393"/>
                  </a:cubicBezTo>
                  <a:cubicBezTo>
                    <a:pt x="3926" y="861"/>
                    <a:pt x="6004" y="0"/>
                    <a:pt x="8171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30822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811055" y="4678865"/>
            <a:ext cx="4495428" cy="282597"/>
            <a:chOff x="0" y="0"/>
            <a:chExt cx="1241414" cy="780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41414" cy="78039"/>
            </a:xfrm>
            <a:custGeom>
              <a:avLst/>
              <a:gdLst/>
              <a:ahLst/>
              <a:cxnLst/>
              <a:rect r="r" b="b" t="t" l="l"/>
              <a:pathLst>
                <a:path h="78039" w="1241414">
                  <a:moveTo>
                    <a:pt x="8611" y="0"/>
                  </a:moveTo>
                  <a:lnTo>
                    <a:pt x="1232803" y="0"/>
                  </a:lnTo>
                  <a:cubicBezTo>
                    <a:pt x="1237559" y="0"/>
                    <a:pt x="1241414" y="3855"/>
                    <a:pt x="1241414" y="8611"/>
                  </a:cubicBezTo>
                  <a:lnTo>
                    <a:pt x="1241414" y="69428"/>
                  </a:lnTo>
                  <a:cubicBezTo>
                    <a:pt x="1241414" y="74184"/>
                    <a:pt x="1237559" y="78039"/>
                    <a:pt x="1232803" y="78039"/>
                  </a:cubicBezTo>
                  <a:lnTo>
                    <a:pt x="8611" y="78039"/>
                  </a:lnTo>
                  <a:cubicBezTo>
                    <a:pt x="3855" y="78039"/>
                    <a:pt x="0" y="74184"/>
                    <a:pt x="0" y="69428"/>
                  </a:cubicBezTo>
                  <a:lnTo>
                    <a:pt x="0" y="8611"/>
                  </a:lnTo>
                  <a:cubicBezTo>
                    <a:pt x="0" y="3855"/>
                    <a:pt x="3855" y="0"/>
                    <a:pt x="8611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2414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811055" y="5243076"/>
            <a:ext cx="4012367" cy="282597"/>
            <a:chOff x="0" y="0"/>
            <a:chExt cx="1108017" cy="780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8017" cy="78039"/>
            </a:xfrm>
            <a:custGeom>
              <a:avLst/>
              <a:gdLst/>
              <a:ahLst/>
              <a:cxnLst/>
              <a:rect r="r" b="b" t="t" l="l"/>
              <a:pathLst>
                <a:path h="78039" w="1108017">
                  <a:moveTo>
                    <a:pt x="9648" y="0"/>
                  </a:moveTo>
                  <a:lnTo>
                    <a:pt x="1098369" y="0"/>
                  </a:lnTo>
                  <a:cubicBezTo>
                    <a:pt x="1103697" y="0"/>
                    <a:pt x="1108017" y="4319"/>
                    <a:pt x="1108017" y="9648"/>
                  </a:cubicBezTo>
                  <a:lnTo>
                    <a:pt x="1108017" y="68392"/>
                  </a:lnTo>
                  <a:cubicBezTo>
                    <a:pt x="1108017" y="70950"/>
                    <a:pt x="1107000" y="73404"/>
                    <a:pt x="1105191" y="75214"/>
                  </a:cubicBezTo>
                  <a:cubicBezTo>
                    <a:pt x="1103382" y="77023"/>
                    <a:pt x="1100928" y="78039"/>
                    <a:pt x="1098369" y="78039"/>
                  </a:cubicBezTo>
                  <a:lnTo>
                    <a:pt x="9648" y="78039"/>
                  </a:lnTo>
                  <a:cubicBezTo>
                    <a:pt x="7089" y="78039"/>
                    <a:pt x="4635" y="77023"/>
                    <a:pt x="2826" y="75214"/>
                  </a:cubicBezTo>
                  <a:cubicBezTo>
                    <a:pt x="1016" y="73404"/>
                    <a:pt x="0" y="70950"/>
                    <a:pt x="0" y="68392"/>
                  </a:cubicBezTo>
                  <a:lnTo>
                    <a:pt x="0" y="9648"/>
                  </a:lnTo>
                  <a:cubicBezTo>
                    <a:pt x="0" y="7089"/>
                    <a:pt x="1016" y="4635"/>
                    <a:pt x="2826" y="2826"/>
                  </a:cubicBezTo>
                  <a:cubicBezTo>
                    <a:pt x="4635" y="1016"/>
                    <a:pt x="7089" y="0"/>
                    <a:pt x="9648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108017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811055" y="5789119"/>
            <a:ext cx="4815737" cy="282597"/>
            <a:chOff x="0" y="0"/>
            <a:chExt cx="1329868" cy="780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29868" cy="78039"/>
            </a:xfrm>
            <a:custGeom>
              <a:avLst/>
              <a:gdLst/>
              <a:ahLst/>
              <a:cxnLst/>
              <a:rect r="r" b="b" t="t" l="l"/>
              <a:pathLst>
                <a:path h="78039" w="1329868">
                  <a:moveTo>
                    <a:pt x="8038" y="0"/>
                  </a:moveTo>
                  <a:lnTo>
                    <a:pt x="1321830" y="0"/>
                  </a:lnTo>
                  <a:cubicBezTo>
                    <a:pt x="1323961" y="0"/>
                    <a:pt x="1326006" y="847"/>
                    <a:pt x="1327513" y="2354"/>
                  </a:cubicBezTo>
                  <a:cubicBezTo>
                    <a:pt x="1329021" y="3862"/>
                    <a:pt x="1329868" y="5906"/>
                    <a:pt x="1329868" y="8038"/>
                  </a:cubicBezTo>
                  <a:lnTo>
                    <a:pt x="1329868" y="70001"/>
                  </a:lnTo>
                  <a:cubicBezTo>
                    <a:pt x="1329868" y="72133"/>
                    <a:pt x="1329021" y="74177"/>
                    <a:pt x="1327513" y="75685"/>
                  </a:cubicBezTo>
                  <a:cubicBezTo>
                    <a:pt x="1326006" y="77192"/>
                    <a:pt x="1323961" y="78039"/>
                    <a:pt x="1321830" y="78039"/>
                  </a:cubicBezTo>
                  <a:lnTo>
                    <a:pt x="8038" y="78039"/>
                  </a:lnTo>
                  <a:cubicBezTo>
                    <a:pt x="5906" y="78039"/>
                    <a:pt x="3862" y="77192"/>
                    <a:pt x="2354" y="75685"/>
                  </a:cubicBezTo>
                  <a:cubicBezTo>
                    <a:pt x="847" y="74177"/>
                    <a:pt x="0" y="72133"/>
                    <a:pt x="0" y="70001"/>
                  </a:cubicBezTo>
                  <a:lnTo>
                    <a:pt x="0" y="8038"/>
                  </a:lnTo>
                  <a:cubicBezTo>
                    <a:pt x="0" y="5906"/>
                    <a:pt x="847" y="3862"/>
                    <a:pt x="2354" y="2354"/>
                  </a:cubicBezTo>
                  <a:cubicBezTo>
                    <a:pt x="3862" y="847"/>
                    <a:pt x="5906" y="0"/>
                    <a:pt x="8038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329868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811055" y="6348004"/>
            <a:ext cx="5123392" cy="282597"/>
            <a:chOff x="0" y="0"/>
            <a:chExt cx="1414827" cy="780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14827" cy="78039"/>
            </a:xfrm>
            <a:custGeom>
              <a:avLst/>
              <a:gdLst/>
              <a:ahLst/>
              <a:cxnLst/>
              <a:rect r="r" b="b" t="t" l="l"/>
              <a:pathLst>
                <a:path h="78039" w="1414827">
                  <a:moveTo>
                    <a:pt x="7555" y="0"/>
                  </a:moveTo>
                  <a:lnTo>
                    <a:pt x="1407271" y="0"/>
                  </a:lnTo>
                  <a:cubicBezTo>
                    <a:pt x="1411444" y="0"/>
                    <a:pt x="1414827" y="3383"/>
                    <a:pt x="1414827" y="7555"/>
                  </a:cubicBezTo>
                  <a:lnTo>
                    <a:pt x="1414827" y="70484"/>
                  </a:lnTo>
                  <a:cubicBezTo>
                    <a:pt x="1414827" y="72488"/>
                    <a:pt x="1414031" y="74409"/>
                    <a:pt x="1412614" y="75826"/>
                  </a:cubicBezTo>
                  <a:cubicBezTo>
                    <a:pt x="1411197" y="77243"/>
                    <a:pt x="1409275" y="78039"/>
                    <a:pt x="1407271" y="78039"/>
                  </a:cubicBezTo>
                  <a:lnTo>
                    <a:pt x="7555" y="78039"/>
                  </a:lnTo>
                  <a:cubicBezTo>
                    <a:pt x="5552" y="78039"/>
                    <a:pt x="3630" y="77243"/>
                    <a:pt x="2213" y="75826"/>
                  </a:cubicBezTo>
                  <a:cubicBezTo>
                    <a:pt x="796" y="74409"/>
                    <a:pt x="0" y="72488"/>
                    <a:pt x="0" y="70484"/>
                  </a:cubicBezTo>
                  <a:lnTo>
                    <a:pt x="0" y="7555"/>
                  </a:lnTo>
                  <a:cubicBezTo>
                    <a:pt x="0" y="5552"/>
                    <a:pt x="796" y="3630"/>
                    <a:pt x="2213" y="2213"/>
                  </a:cubicBezTo>
                  <a:cubicBezTo>
                    <a:pt x="3630" y="796"/>
                    <a:pt x="5552" y="0"/>
                    <a:pt x="7555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414827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601001" y="4092239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4.2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601001" y="4651123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4.0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601001" y="5207938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3.7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601001" y="5766823"/>
            <a:ext cx="343643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4.3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01001" y="6323638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4.5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207625" y="3279791"/>
            <a:ext cx="5051675" cy="2253618"/>
            <a:chOff x="0" y="0"/>
            <a:chExt cx="1956576" cy="8728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56576" cy="872854"/>
            </a:xfrm>
            <a:custGeom>
              <a:avLst/>
              <a:gdLst/>
              <a:ahLst/>
              <a:cxnLst/>
              <a:rect r="r" b="b" t="t" l="l"/>
              <a:pathLst>
                <a:path h="872854" w="1956576">
                  <a:moveTo>
                    <a:pt x="18391" y="0"/>
                  </a:moveTo>
                  <a:lnTo>
                    <a:pt x="1938185" y="0"/>
                  </a:lnTo>
                  <a:cubicBezTo>
                    <a:pt x="1948342" y="0"/>
                    <a:pt x="1956576" y="8234"/>
                    <a:pt x="1956576" y="18391"/>
                  </a:cubicBezTo>
                  <a:lnTo>
                    <a:pt x="1956576" y="854463"/>
                  </a:lnTo>
                  <a:cubicBezTo>
                    <a:pt x="1956576" y="859341"/>
                    <a:pt x="1954638" y="864019"/>
                    <a:pt x="1951189" y="867467"/>
                  </a:cubicBezTo>
                  <a:cubicBezTo>
                    <a:pt x="1947740" y="870916"/>
                    <a:pt x="1943062" y="872854"/>
                    <a:pt x="1938185" y="872854"/>
                  </a:cubicBezTo>
                  <a:lnTo>
                    <a:pt x="18391" y="872854"/>
                  </a:lnTo>
                  <a:cubicBezTo>
                    <a:pt x="13513" y="872854"/>
                    <a:pt x="8835" y="870916"/>
                    <a:pt x="5386" y="867467"/>
                  </a:cubicBezTo>
                  <a:cubicBezTo>
                    <a:pt x="1938" y="864019"/>
                    <a:pt x="0" y="859341"/>
                    <a:pt x="0" y="854463"/>
                  </a:cubicBezTo>
                  <a:lnTo>
                    <a:pt x="0" y="18391"/>
                  </a:lnTo>
                  <a:cubicBezTo>
                    <a:pt x="0" y="13513"/>
                    <a:pt x="1938" y="8835"/>
                    <a:pt x="5386" y="5386"/>
                  </a:cubicBezTo>
                  <a:cubicBezTo>
                    <a:pt x="8835" y="1938"/>
                    <a:pt x="13513" y="0"/>
                    <a:pt x="18391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956576" cy="910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207625" y="3565843"/>
            <a:ext cx="497475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NET PROMOTER SCORE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42242" y="4061142"/>
            <a:ext cx="1871345" cy="100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9"/>
              </a:lnSpc>
            </a:pPr>
            <a:r>
              <a:rPr lang="en-US" sz="592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+40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2207625" y="6071716"/>
            <a:ext cx="5051675" cy="1807971"/>
            <a:chOff x="0" y="0"/>
            <a:chExt cx="1918066" cy="68646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18066" cy="686467"/>
            </a:xfrm>
            <a:custGeom>
              <a:avLst/>
              <a:gdLst/>
              <a:ahLst/>
              <a:cxnLst/>
              <a:rect r="r" b="b" t="t" l="l"/>
              <a:pathLst>
                <a:path h="686467" w="1918066">
                  <a:moveTo>
                    <a:pt x="24521" y="0"/>
                  </a:moveTo>
                  <a:lnTo>
                    <a:pt x="1893545" y="0"/>
                  </a:lnTo>
                  <a:cubicBezTo>
                    <a:pt x="1907087" y="0"/>
                    <a:pt x="1918066" y="10978"/>
                    <a:pt x="1918066" y="24521"/>
                  </a:cubicBezTo>
                  <a:lnTo>
                    <a:pt x="1918066" y="661946"/>
                  </a:lnTo>
                  <a:cubicBezTo>
                    <a:pt x="1918066" y="668450"/>
                    <a:pt x="1915482" y="674686"/>
                    <a:pt x="1910884" y="679285"/>
                  </a:cubicBezTo>
                  <a:cubicBezTo>
                    <a:pt x="1906285" y="683884"/>
                    <a:pt x="1900048" y="686467"/>
                    <a:pt x="1893545" y="686467"/>
                  </a:cubicBezTo>
                  <a:lnTo>
                    <a:pt x="24521" y="686467"/>
                  </a:lnTo>
                  <a:cubicBezTo>
                    <a:pt x="10978" y="686467"/>
                    <a:pt x="0" y="675489"/>
                    <a:pt x="0" y="661946"/>
                  </a:cubicBezTo>
                  <a:lnTo>
                    <a:pt x="0" y="24521"/>
                  </a:lnTo>
                  <a:cubicBezTo>
                    <a:pt x="0" y="18017"/>
                    <a:pt x="2583" y="11780"/>
                    <a:pt x="7182" y="7182"/>
                  </a:cubicBezTo>
                  <a:cubicBezTo>
                    <a:pt x="11780" y="2583"/>
                    <a:pt x="18017" y="0"/>
                    <a:pt x="2452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918066" cy="724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2778247" y="6371609"/>
            <a:ext cx="33046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2000" spc="-52">
                <a:solidFill>
                  <a:srgbClr val="DC2626"/>
                </a:solidFill>
                <a:latin typeface="Open Sans 1"/>
                <a:ea typeface="Open Sans 1"/>
                <a:cs typeface="Open Sans 1"/>
                <a:sym typeface="Open Sans 1"/>
              </a:rPr>
              <a:t>MAIN FRICTION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778247" y="6879939"/>
            <a:ext cx="3805134" cy="592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A71919"/>
                </a:solidFill>
                <a:latin typeface="Open Sans 1"/>
                <a:ea typeface="Open Sans 1"/>
                <a:cs typeface="Open Sans 1"/>
                <a:sym typeface="Open Sans 1"/>
              </a:rPr>
              <a:t>Attention map and processing stats confused users without context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07625" y="4988863"/>
            <a:ext cx="4974758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D1D1D1"/>
                </a:solidFill>
                <a:latin typeface="Open Sans 2"/>
                <a:ea typeface="Open Sans 2"/>
                <a:cs typeface="Open Sans 2"/>
                <a:sym typeface="Open Sans 2"/>
              </a:rPr>
              <a:t>(industry good: +30 to +50)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03364" y="7356189"/>
            <a:ext cx="6104465" cy="34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012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TOP-VALUED FEATURES (% MENTIONS)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03364" y="7851112"/>
            <a:ext cx="5207649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Top-K alte</a:t>
            </a:r>
            <a:r>
              <a:rPr lang="en-US" sz="18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rnatives with confidence </a:t>
            </a:r>
            <a:r>
              <a:rPr lang="en-US" sz="18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87%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Automatic text-to-speech </a:t>
            </a:r>
            <a:r>
              <a:rPr lang="en-US" sz="18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73%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Multiple model selection </a:t>
            </a:r>
            <a:r>
              <a:rPr lang="en-US" sz="18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60%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>
                  <p14:trim st="1150.0000" end="0.0000"/>
                </p14:media>
              </p:ext>
            </p:extLst>
          </p:nvPr>
        </p:nvPicPr>
        <p:blipFill>
          <a:blip r:embed="rId2"/>
          <a:srcRect l="0" t="0" r="0" b="5060"/>
          <a:stretch>
            <a:fillRect/>
          </a:stretch>
        </p:blipFill>
        <p:spPr>
          <a:xfrm flipH="false" flipV="false" rot="0">
            <a:off x="7337844" y="1193154"/>
            <a:ext cx="3726611" cy="7813103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6052756" y="1013481"/>
            <a:ext cx="6182487" cy="8260039"/>
          </a:xfrm>
          <a:custGeom>
            <a:avLst/>
            <a:gdLst/>
            <a:ahLst/>
            <a:cxnLst/>
            <a:rect r="r" b="b" t="t" l="l"/>
            <a:pathLst>
              <a:path h="8260039" w="6182487">
                <a:moveTo>
                  <a:pt x="0" y="0"/>
                </a:moveTo>
                <a:lnTo>
                  <a:pt x="6182488" y="0"/>
                </a:lnTo>
                <a:lnTo>
                  <a:pt x="6182488" y="8260038"/>
                </a:lnTo>
                <a:lnTo>
                  <a:pt x="0" y="82600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9" t="-368" r="-36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740834" y="1047750"/>
            <a:ext cx="229313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156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DEMO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17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4811055" y="4118292"/>
            <a:ext cx="5597002" cy="282597"/>
            <a:chOff x="0" y="0"/>
            <a:chExt cx="1545614" cy="7803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102332" y="787026"/>
            <a:ext cx="3931632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Ethical</a:t>
            </a:r>
          </a:p>
          <a:p>
            <a:pPr algn="r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3364" y="786763"/>
            <a:ext cx="200484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FRAMEWORK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364" y="1213492"/>
            <a:ext cx="386632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Google’s AI Principles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3364" y="1793620"/>
            <a:ext cx="4814414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26 metrics | 7 principles | scored 0 / 5 / 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3364" y="3367042"/>
            <a:ext cx="3713948" cy="34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012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SCORES BY PRINCIPLE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03364" y="4080192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P6 Scientific Excellence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364" y="4639077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P3 Safety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364" y="5195892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P1 Socially Beneficial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3364" y="5754777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P4 Accountability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3364" y="6311592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P7 Principled Availability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3364" y="6870477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P2 Avoid Unfair Bias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3364" y="7427291"/>
            <a:ext cx="3542125" cy="320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P5 Privacy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811055" y="4677177"/>
            <a:ext cx="5597002" cy="282597"/>
            <a:chOff x="0" y="0"/>
            <a:chExt cx="1545614" cy="780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11055" y="5233992"/>
            <a:ext cx="5597002" cy="282597"/>
            <a:chOff x="0" y="0"/>
            <a:chExt cx="1545614" cy="780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811055" y="5792877"/>
            <a:ext cx="5597002" cy="282597"/>
            <a:chOff x="0" y="0"/>
            <a:chExt cx="1545614" cy="780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811055" y="6349692"/>
            <a:ext cx="5597002" cy="282597"/>
            <a:chOff x="0" y="0"/>
            <a:chExt cx="1545614" cy="780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811055" y="6908577"/>
            <a:ext cx="5597002" cy="282597"/>
            <a:chOff x="0" y="0"/>
            <a:chExt cx="1545614" cy="780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811055" y="7463703"/>
            <a:ext cx="5597002" cy="282597"/>
            <a:chOff x="0" y="0"/>
            <a:chExt cx="1545614" cy="780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811055" y="4130339"/>
            <a:ext cx="5597002" cy="282597"/>
            <a:chOff x="0" y="0"/>
            <a:chExt cx="1545614" cy="780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45614" cy="78039"/>
            </a:xfrm>
            <a:custGeom>
              <a:avLst/>
              <a:gdLst/>
              <a:ahLst/>
              <a:cxnLst/>
              <a:rect r="r" b="b" t="t" l="l"/>
              <a:pathLst>
                <a:path h="78039" w="1545614">
                  <a:moveTo>
                    <a:pt x="6916" y="0"/>
                  </a:moveTo>
                  <a:lnTo>
                    <a:pt x="1538698" y="0"/>
                  </a:lnTo>
                  <a:cubicBezTo>
                    <a:pt x="1540532" y="0"/>
                    <a:pt x="1542292" y="729"/>
                    <a:pt x="1543589" y="2026"/>
                  </a:cubicBezTo>
                  <a:cubicBezTo>
                    <a:pt x="1544886" y="3323"/>
                    <a:pt x="1545614" y="5082"/>
                    <a:pt x="1545614" y="6916"/>
                  </a:cubicBezTo>
                  <a:lnTo>
                    <a:pt x="1545614" y="71123"/>
                  </a:lnTo>
                  <a:cubicBezTo>
                    <a:pt x="1545614" y="74943"/>
                    <a:pt x="1542518" y="78039"/>
                    <a:pt x="1538698" y="78039"/>
                  </a:cubicBezTo>
                  <a:lnTo>
                    <a:pt x="6916" y="78039"/>
                  </a:lnTo>
                  <a:cubicBezTo>
                    <a:pt x="3096" y="78039"/>
                    <a:pt x="0" y="74943"/>
                    <a:pt x="0" y="71123"/>
                  </a:cubicBezTo>
                  <a:lnTo>
                    <a:pt x="0" y="6916"/>
                  </a:lnTo>
                  <a:cubicBezTo>
                    <a:pt x="0" y="3096"/>
                    <a:pt x="3096" y="0"/>
                    <a:pt x="6916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54561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811055" y="4678865"/>
            <a:ext cx="4877519" cy="282597"/>
            <a:chOff x="0" y="0"/>
            <a:chExt cx="1346929" cy="780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6929" cy="78039"/>
            </a:xfrm>
            <a:custGeom>
              <a:avLst/>
              <a:gdLst/>
              <a:ahLst/>
              <a:cxnLst/>
              <a:rect r="r" b="b" t="t" l="l"/>
              <a:pathLst>
                <a:path h="78039" w="1346929">
                  <a:moveTo>
                    <a:pt x="7936" y="0"/>
                  </a:moveTo>
                  <a:lnTo>
                    <a:pt x="1338992" y="0"/>
                  </a:lnTo>
                  <a:cubicBezTo>
                    <a:pt x="1341097" y="0"/>
                    <a:pt x="1343116" y="836"/>
                    <a:pt x="1344604" y="2324"/>
                  </a:cubicBezTo>
                  <a:cubicBezTo>
                    <a:pt x="1346093" y="3813"/>
                    <a:pt x="1346929" y="5831"/>
                    <a:pt x="1346929" y="7936"/>
                  </a:cubicBezTo>
                  <a:lnTo>
                    <a:pt x="1346929" y="70103"/>
                  </a:lnTo>
                  <a:cubicBezTo>
                    <a:pt x="1346929" y="74486"/>
                    <a:pt x="1343376" y="78039"/>
                    <a:pt x="1338992" y="78039"/>
                  </a:cubicBezTo>
                  <a:lnTo>
                    <a:pt x="7936" y="78039"/>
                  </a:lnTo>
                  <a:cubicBezTo>
                    <a:pt x="3553" y="78039"/>
                    <a:pt x="0" y="74486"/>
                    <a:pt x="0" y="70103"/>
                  </a:cubicBezTo>
                  <a:lnTo>
                    <a:pt x="0" y="7936"/>
                  </a:lnTo>
                  <a:cubicBezTo>
                    <a:pt x="0" y="3553"/>
                    <a:pt x="3553" y="0"/>
                    <a:pt x="7936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346929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811055" y="5243076"/>
            <a:ext cx="4737360" cy="282597"/>
            <a:chOff x="0" y="0"/>
            <a:chExt cx="1308224" cy="780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08224" cy="78039"/>
            </a:xfrm>
            <a:custGeom>
              <a:avLst/>
              <a:gdLst/>
              <a:ahLst/>
              <a:cxnLst/>
              <a:rect r="r" b="b" t="t" l="l"/>
              <a:pathLst>
                <a:path h="78039" w="1308224">
                  <a:moveTo>
                    <a:pt x="8171" y="0"/>
                  </a:moveTo>
                  <a:lnTo>
                    <a:pt x="1300053" y="0"/>
                  </a:lnTo>
                  <a:cubicBezTo>
                    <a:pt x="1302220" y="0"/>
                    <a:pt x="1304298" y="861"/>
                    <a:pt x="1305830" y="2393"/>
                  </a:cubicBezTo>
                  <a:cubicBezTo>
                    <a:pt x="1307363" y="3926"/>
                    <a:pt x="1308224" y="6004"/>
                    <a:pt x="1308224" y="8171"/>
                  </a:cubicBezTo>
                  <a:lnTo>
                    <a:pt x="1308224" y="69868"/>
                  </a:lnTo>
                  <a:cubicBezTo>
                    <a:pt x="1308224" y="72035"/>
                    <a:pt x="1307363" y="74114"/>
                    <a:pt x="1305830" y="75646"/>
                  </a:cubicBezTo>
                  <a:cubicBezTo>
                    <a:pt x="1304298" y="77178"/>
                    <a:pt x="1302220" y="78039"/>
                    <a:pt x="1300053" y="78039"/>
                  </a:cubicBezTo>
                  <a:lnTo>
                    <a:pt x="8171" y="78039"/>
                  </a:lnTo>
                  <a:cubicBezTo>
                    <a:pt x="6004" y="78039"/>
                    <a:pt x="3926" y="77178"/>
                    <a:pt x="2393" y="75646"/>
                  </a:cubicBezTo>
                  <a:cubicBezTo>
                    <a:pt x="861" y="74114"/>
                    <a:pt x="0" y="72035"/>
                    <a:pt x="0" y="69868"/>
                  </a:cubicBezTo>
                  <a:lnTo>
                    <a:pt x="0" y="8171"/>
                  </a:lnTo>
                  <a:cubicBezTo>
                    <a:pt x="0" y="6004"/>
                    <a:pt x="861" y="3926"/>
                    <a:pt x="2393" y="2393"/>
                  </a:cubicBezTo>
                  <a:cubicBezTo>
                    <a:pt x="3926" y="861"/>
                    <a:pt x="6004" y="0"/>
                    <a:pt x="8171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30822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811055" y="5789119"/>
            <a:ext cx="4737360" cy="282597"/>
            <a:chOff x="0" y="0"/>
            <a:chExt cx="1308224" cy="780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08224" cy="78039"/>
            </a:xfrm>
            <a:custGeom>
              <a:avLst/>
              <a:gdLst/>
              <a:ahLst/>
              <a:cxnLst/>
              <a:rect r="r" b="b" t="t" l="l"/>
              <a:pathLst>
                <a:path h="78039" w="1308224">
                  <a:moveTo>
                    <a:pt x="8171" y="0"/>
                  </a:moveTo>
                  <a:lnTo>
                    <a:pt x="1300053" y="0"/>
                  </a:lnTo>
                  <a:cubicBezTo>
                    <a:pt x="1302220" y="0"/>
                    <a:pt x="1304298" y="861"/>
                    <a:pt x="1305830" y="2393"/>
                  </a:cubicBezTo>
                  <a:cubicBezTo>
                    <a:pt x="1307363" y="3926"/>
                    <a:pt x="1308224" y="6004"/>
                    <a:pt x="1308224" y="8171"/>
                  </a:cubicBezTo>
                  <a:lnTo>
                    <a:pt x="1308224" y="69868"/>
                  </a:lnTo>
                  <a:cubicBezTo>
                    <a:pt x="1308224" y="72035"/>
                    <a:pt x="1307363" y="74114"/>
                    <a:pt x="1305830" y="75646"/>
                  </a:cubicBezTo>
                  <a:cubicBezTo>
                    <a:pt x="1304298" y="77178"/>
                    <a:pt x="1302220" y="78039"/>
                    <a:pt x="1300053" y="78039"/>
                  </a:cubicBezTo>
                  <a:lnTo>
                    <a:pt x="8171" y="78039"/>
                  </a:lnTo>
                  <a:cubicBezTo>
                    <a:pt x="6004" y="78039"/>
                    <a:pt x="3926" y="77178"/>
                    <a:pt x="2393" y="75646"/>
                  </a:cubicBezTo>
                  <a:cubicBezTo>
                    <a:pt x="861" y="74114"/>
                    <a:pt x="0" y="72035"/>
                    <a:pt x="0" y="69868"/>
                  </a:cubicBezTo>
                  <a:lnTo>
                    <a:pt x="0" y="8171"/>
                  </a:lnTo>
                  <a:cubicBezTo>
                    <a:pt x="0" y="6004"/>
                    <a:pt x="861" y="3926"/>
                    <a:pt x="2393" y="2393"/>
                  </a:cubicBezTo>
                  <a:cubicBezTo>
                    <a:pt x="3926" y="861"/>
                    <a:pt x="6004" y="0"/>
                    <a:pt x="8171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308224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811055" y="6348004"/>
            <a:ext cx="3242330" cy="282597"/>
            <a:chOff x="0" y="0"/>
            <a:chExt cx="895371" cy="7803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5371" cy="78039"/>
            </a:xfrm>
            <a:custGeom>
              <a:avLst/>
              <a:gdLst/>
              <a:ahLst/>
              <a:cxnLst/>
              <a:rect r="r" b="b" t="t" l="l"/>
              <a:pathLst>
                <a:path h="78039" w="895371">
                  <a:moveTo>
                    <a:pt x="11939" y="0"/>
                  </a:moveTo>
                  <a:lnTo>
                    <a:pt x="883432" y="0"/>
                  </a:lnTo>
                  <a:cubicBezTo>
                    <a:pt x="890025" y="0"/>
                    <a:pt x="895371" y="5345"/>
                    <a:pt x="895371" y="11939"/>
                  </a:cubicBezTo>
                  <a:lnTo>
                    <a:pt x="895371" y="66100"/>
                  </a:lnTo>
                  <a:cubicBezTo>
                    <a:pt x="895371" y="69267"/>
                    <a:pt x="894113" y="72303"/>
                    <a:pt x="891874" y="74542"/>
                  </a:cubicBezTo>
                  <a:cubicBezTo>
                    <a:pt x="889635" y="76781"/>
                    <a:pt x="886598" y="78039"/>
                    <a:pt x="883432" y="78039"/>
                  </a:cubicBezTo>
                  <a:lnTo>
                    <a:pt x="11939" y="78039"/>
                  </a:lnTo>
                  <a:cubicBezTo>
                    <a:pt x="5345" y="78039"/>
                    <a:pt x="0" y="72694"/>
                    <a:pt x="0" y="66100"/>
                  </a:cubicBezTo>
                  <a:lnTo>
                    <a:pt x="0" y="11939"/>
                  </a:lnTo>
                  <a:cubicBezTo>
                    <a:pt x="0" y="5345"/>
                    <a:pt x="5345" y="0"/>
                    <a:pt x="11939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895371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811055" y="6904819"/>
            <a:ext cx="3148890" cy="282597"/>
            <a:chOff x="0" y="0"/>
            <a:chExt cx="869567" cy="780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9567" cy="78039"/>
            </a:xfrm>
            <a:custGeom>
              <a:avLst/>
              <a:gdLst/>
              <a:ahLst/>
              <a:cxnLst/>
              <a:rect r="r" b="b" t="t" l="l"/>
              <a:pathLst>
                <a:path h="78039" w="869567">
                  <a:moveTo>
                    <a:pt x="12293" y="0"/>
                  </a:moveTo>
                  <a:lnTo>
                    <a:pt x="857274" y="0"/>
                  </a:lnTo>
                  <a:cubicBezTo>
                    <a:pt x="864063" y="0"/>
                    <a:pt x="869567" y="5504"/>
                    <a:pt x="869567" y="12293"/>
                  </a:cubicBezTo>
                  <a:lnTo>
                    <a:pt x="869567" y="65746"/>
                  </a:lnTo>
                  <a:cubicBezTo>
                    <a:pt x="869567" y="69006"/>
                    <a:pt x="868272" y="72133"/>
                    <a:pt x="865967" y="74439"/>
                  </a:cubicBezTo>
                  <a:cubicBezTo>
                    <a:pt x="863661" y="76744"/>
                    <a:pt x="860534" y="78039"/>
                    <a:pt x="857274" y="78039"/>
                  </a:cubicBezTo>
                  <a:lnTo>
                    <a:pt x="12293" y="78039"/>
                  </a:lnTo>
                  <a:cubicBezTo>
                    <a:pt x="5504" y="78039"/>
                    <a:pt x="0" y="72535"/>
                    <a:pt x="0" y="65746"/>
                  </a:cubicBezTo>
                  <a:lnTo>
                    <a:pt x="0" y="12293"/>
                  </a:lnTo>
                  <a:cubicBezTo>
                    <a:pt x="0" y="5504"/>
                    <a:pt x="5504" y="0"/>
                    <a:pt x="12293" y="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869567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811055" y="7463703"/>
            <a:ext cx="2728413" cy="282597"/>
            <a:chOff x="0" y="0"/>
            <a:chExt cx="753452" cy="780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53452" cy="78039"/>
            </a:xfrm>
            <a:custGeom>
              <a:avLst/>
              <a:gdLst/>
              <a:ahLst/>
              <a:cxnLst/>
              <a:rect r="r" b="b" t="t" l="l"/>
              <a:pathLst>
                <a:path h="78039" w="753452">
                  <a:moveTo>
                    <a:pt x="14188" y="0"/>
                  </a:moveTo>
                  <a:lnTo>
                    <a:pt x="739265" y="0"/>
                  </a:lnTo>
                  <a:cubicBezTo>
                    <a:pt x="747100" y="0"/>
                    <a:pt x="753452" y="6352"/>
                    <a:pt x="753452" y="14188"/>
                  </a:cubicBezTo>
                  <a:lnTo>
                    <a:pt x="753452" y="63852"/>
                  </a:lnTo>
                  <a:cubicBezTo>
                    <a:pt x="753452" y="67614"/>
                    <a:pt x="751958" y="71223"/>
                    <a:pt x="749297" y="73884"/>
                  </a:cubicBezTo>
                  <a:cubicBezTo>
                    <a:pt x="746636" y="76544"/>
                    <a:pt x="743028" y="78039"/>
                    <a:pt x="739265" y="78039"/>
                  </a:cubicBezTo>
                  <a:lnTo>
                    <a:pt x="14188" y="78039"/>
                  </a:lnTo>
                  <a:cubicBezTo>
                    <a:pt x="6352" y="78039"/>
                    <a:pt x="0" y="71687"/>
                    <a:pt x="0" y="63852"/>
                  </a:cubicBezTo>
                  <a:lnTo>
                    <a:pt x="0" y="14188"/>
                  </a:lnTo>
                  <a:cubicBezTo>
                    <a:pt x="0" y="6352"/>
                    <a:pt x="6352" y="0"/>
                    <a:pt x="14188" y="0"/>
                  </a:cubicBez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53452" cy="106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601001" y="4092239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10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601001" y="4651123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8.8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601001" y="5207938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8.3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601001" y="5766823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8.3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601001" y="6323638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6.7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601001" y="6882523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6.3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601001" y="7439338"/>
            <a:ext cx="692224" cy="32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1919">
                <a:solidFill>
                  <a:srgbClr val="28292A"/>
                </a:solidFill>
                <a:latin typeface="Open Sans 2"/>
                <a:ea typeface="Open Sans 2"/>
                <a:cs typeface="Open Sans 2"/>
                <a:sym typeface="Open Sans 2"/>
              </a:rPr>
              <a:t>5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2207625" y="3279791"/>
            <a:ext cx="5051675" cy="2095500"/>
            <a:chOff x="0" y="0"/>
            <a:chExt cx="1956576" cy="81161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956576" cy="811613"/>
            </a:xfrm>
            <a:custGeom>
              <a:avLst/>
              <a:gdLst/>
              <a:ahLst/>
              <a:cxnLst/>
              <a:rect r="r" b="b" t="t" l="l"/>
              <a:pathLst>
                <a:path h="811613" w="1956576">
                  <a:moveTo>
                    <a:pt x="18391" y="0"/>
                  </a:moveTo>
                  <a:lnTo>
                    <a:pt x="1938185" y="0"/>
                  </a:lnTo>
                  <a:cubicBezTo>
                    <a:pt x="1948342" y="0"/>
                    <a:pt x="1956576" y="8234"/>
                    <a:pt x="1956576" y="18391"/>
                  </a:cubicBezTo>
                  <a:lnTo>
                    <a:pt x="1956576" y="793222"/>
                  </a:lnTo>
                  <a:cubicBezTo>
                    <a:pt x="1956576" y="798100"/>
                    <a:pt x="1954638" y="802777"/>
                    <a:pt x="1951189" y="806226"/>
                  </a:cubicBezTo>
                  <a:cubicBezTo>
                    <a:pt x="1947740" y="809675"/>
                    <a:pt x="1943062" y="811613"/>
                    <a:pt x="1938185" y="811613"/>
                  </a:cubicBezTo>
                  <a:lnTo>
                    <a:pt x="18391" y="811613"/>
                  </a:lnTo>
                  <a:cubicBezTo>
                    <a:pt x="13513" y="811613"/>
                    <a:pt x="8835" y="809675"/>
                    <a:pt x="5386" y="806226"/>
                  </a:cubicBezTo>
                  <a:cubicBezTo>
                    <a:pt x="1938" y="802777"/>
                    <a:pt x="0" y="798100"/>
                    <a:pt x="0" y="793222"/>
                  </a:cubicBezTo>
                  <a:lnTo>
                    <a:pt x="0" y="18391"/>
                  </a:lnTo>
                  <a:cubicBezTo>
                    <a:pt x="0" y="13513"/>
                    <a:pt x="1938" y="8835"/>
                    <a:pt x="5386" y="5386"/>
                  </a:cubicBezTo>
                  <a:cubicBezTo>
                    <a:pt x="8835" y="1938"/>
                    <a:pt x="13513" y="0"/>
                    <a:pt x="18391" y="0"/>
                  </a:cubicBez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956576" cy="84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207625" y="3565843"/>
            <a:ext cx="497475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OVERALL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642242" y="4061142"/>
            <a:ext cx="1871345" cy="100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89"/>
              </a:lnSpc>
            </a:pPr>
            <a:r>
              <a:rPr lang="en-US" sz="5921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7.6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5045751" y="4451462"/>
            <a:ext cx="935673" cy="508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4"/>
              </a:lnSpc>
            </a:pPr>
            <a:r>
              <a:rPr lang="en-US" sz="2960">
                <a:solidFill>
                  <a:srgbClr val="CBCBCB"/>
                </a:solidFill>
                <a:latin typeface="Open Sans 2"/>
                <a:ea typeface="Open Sans 2"/>
                <a:cs typeface="Open Sans 2"/>
                <a:sym typeface="Open Sans 2"/>
              </a:rPr>
              <a:t>/ 10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028700" y="8612533"/>
            <a:ext cx="16153683" cy="772888"/>
            <a:chOff x="0" y="0"/>
            <a:chExt cx="6133377" cy="29345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133377" cy="293457"/>
            </a:xfrm>
            <a:custGeom>
              <a:avLst/>
              <a:gdLst/>
              <a:ahLst/>
              <a:cxnLst/>
              <a:rect r="r" b="b" t="t" l="l"/>
              <a:pathLst>
                <a:path h="293457" w="6133377">
                  <a:moveTo>
                    <a:pt x="2876" y="0"/>
                  </a:moveTo>
                  <a:lnTo>
                    <a:pt x="6130502" y="0"/>
                  </a:lnTo>
                  <a:cubicBezTo>
                    <a:pt x="6131264" y="0"/>
                    <a:pt x="6131995" y="303"/>
                    <a:pt x="6132535" y="842"/>
                  </a:cubicBezTo>
                  <a:cubicBezTo>
                    <a:pt x="6133074" y="1382"/>
                    <a:pt x="6133377" y="2113"/>
                    <a:pt x="6133377" y="2876"/>
                  </a:cubicBezTo>
                  <a:lnTo>
                    <a:pt x="6133377" y="290581"/>
                  </a:lnTo>
                  <a:cubicBezTo>
                    <a:pt x="6133377" y="292170"/>
                    <a:pt x="6132090" y="293457"/>
                    <a:pt x="6130502" y="293457"/>
                  </a:cubicBezTo>
                  <a:lnTo>
                    <a:pt x="2876" y="293457"/>
                  </a:lnTo>
                  <a:cubicBezTo>
                    <a:pt x="1287" y="293457"/>
                    <a:pt x="0" y="292170"/>
                    <a:pt x="0" y="290581"/>
                  </a:cubicBezTo>
                  <a:lnTo>
                    <a:pt x="0" y="2876"/>
                  </a:lnTo>
                  <a:cubicBezTo>
                    <a:pt x="0" y="1287"/>
                    <a:pt x="1287" y="0"/>
                    <a:pt x="2876" y="0"/>
                  </a:cubicBezTo>
                  <a:close/>
                </a:path>
              </a:pathLst>
            </a:custGeom>
            <a:solidFill>
              <a:srgbClr val="FAEEDA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6133377" cy="322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267414" y="8707783"/>
            <a:ext cx="15766550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BF7D0C"/>
                </a:solidFill>
                <a:latin typeface="Open Sans 2"/>
                <a:ea typeface="Open Sans 2"/>
                <a:cs typeface="Open Sans 2"/>
                <a:sym typeface="Open Sans 2"/>
              </a:rPr>
              <a:t>Key insight</a:t>
            </a:r>
            <a:r>
              <a:rPr lang="en-US" sz="16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: Me</a:t>
            </a:r>
            <a:r>
              <a:rPr lang="en-US" sz="16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diaPipe landmarks as input originally a technical decision, propagate positive effects across P2 (bias), P5 (privacy) and P7 (misuse). One choice, three ethical wins.</a:t>
            </a:r>
          </a:p>
          <a:p>
            <a:pPr algn="l">
              <a:lnSpc>
                <a:spcPts val="2379"/>
              </a:lnSpc>
            </a:pPr>
          </a:p>
        </p:txBody>
      </p:sp>
      <p:grpSp>
        <p:nvGrpSpPr>
          <p:cNvPr name="Group 74" id="74"/>
          <p:cNvGrpSpPr/>
          <p:nvPr/>
        </p:nvGrpSpPr>
        <p:grpSpPr>
          <a:xfrm rot="0">
            <a:off x="12350500" y="5930417"/>
            <a:ext cx="4908800" cy="2074145"/>
            <a:chOff x="0" y="0"/>
            <a:chExt cx="1863818" cy="78753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63818" cy="787530"/>
            </a:xfrm>
            <a:custGeom>
              <a:avLst/>
              <a:gdLst/>
              <a:ahLst/>
              <a:cxnLst/>
              <a:rect r="r" b="b" t="t" l="l"/>
              <a:pathLst>
                <a:path h="787530" w="1863818">
                  <a:moveTo>
                    <a:pt x="25234" y="0"/>
                  </a:moveTo>
                  <a:lnTo>
                    <a:pt x="1838583" y="0"/>
                  </a:lnTo>
                  <a:cubicBezTo>
                    <a:pt x="1852520" y="0"/>
                    <a:pt x="1863818" y="11298"/>
                    <a:pt x="1863818" y="25234"/>
                  </a:cubicBezTo>
                  <a:lnTo>
                    <a:pt x="1863818" y="762296"/>
                  </a:lnTo>
                  <a:cubicBezTo>
                    <a:pt x="1863818" y="776232"/>
                    <a:pt x="1852520" y="787530"/>
                    <a:pt x="1838583" y="787530"/>
                  </a:cubicBezTo>
                  <a:lnTo>
                    <a:pt x="25234" y="787530"/>
                  </a:lnTo>
                  <a:cubicBezTo>
                    <a:pt x="18542" y="787530"/>
                    <a:pt x="12123" y="784872"/>
                    <a:pt x="7391" y="780139"/>
                  </a:cubicBezTo>
                  <a:cubicBezTo>
                    <a:pt x="2659" y="775407"/>
                    <a:pt x="0" y="768988"/>
                    <a:pt x="0" y="762296"/>
                  </a:cubicBezTo>
                  <a:lnTo>
                    <a:pt x="0" y="25234"/>
                  </a:lnTo>
                  <a:cubicBezTo>
                    <a:pt x="0" y="11298"/>
                    <a:pt x="11298" y="0"/>
                    <a:pt x="2523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2626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863818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778247" y="6799493"/>
            <a:ext cx="3669346" cy="592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800" spc="-44">
                <a:solidFill>
                  <a:srgbClr val="A71919"/>
                </a:solidFill>
                <a:latin typeface="Open Sans 1"/>
                <a:ea typeface="Open Sans 1"/>
                <a:cs typeface="Open Sans 1"/>
                <a:sym typeface="Open Sans 1"/>
              </a:rPr>
              <a:t>Privacy in inference: raw frames on server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778247" y="6249160"/>
            <a:ext cx="330467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</a:pPr>
            <a:r>
              <a:rPr lang="en-US" sz="2000" spc="-52">
                <a:solidFill>
                  <a:srgbClr val="DC2626"/>
                </a:solidFill>
                <a:latin typeface="Open Sans 1"/>
                <a:ea typeface="Open Sans 1"/>
                <a:cs typeface="Open Sans 1"/>
                <a:sym typeface="Open Sans 1"/>
              </a:rPr>
              <a:t>WEAKEST POINT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81" id="8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2112815" y="787026"/>
            <a:ext cx="4921149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Conclusions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3364" y="1618908"/>
            <a:ext cx="6109887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ANSWERING THE RESEARCH QUESTION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3364" y="2506785"/>
            <a:ext cx="1623060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i="true">
                <a:solidFill>
                  <a:srgbClr val="28292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“Can </a:t>
            </a:r>
            <a:r>
              <a:rPr lang="en-US" b="true" sz="2800" i="true">
                <a:solidFill>
                  <a:srgbClr val="28292A"/>
                </a:solidFill>
                <a:latin typeface="Open Sans 2 Bold Italics"/>
                <a:ea typeface="Open Sans 2 Bold Italics"/>
                <a:cs typeface="Open Sans 2 Bold Italics"/>
                <a:sym typeface="Open Sans 2 Bold Italics"/>
              </a:rPr>
              <a:t>hand-landmark</a:t>
            </a:r>
            <a:r>
              <a:rPr lang="en-US" sz="2800" i="true">
                <a:solidFill>
                  <a:srgbClr val="28292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 sequences provide enough  information for a temporal model to classify short ASL video clips into </a:t>
            </a:r>
            <a:r>
              <a:rPr lang="en-US" b="true" sz="2800" i="true">
                <a:solidFill>
                  <a:srgbClr val="28292A"/>
                </a:solidFill>
                <a:latin typeface="Open Sans 2 Bold Italics"/>
                <a:ea typeface="Open Sans 2 Bold Italics"/>
                <a:cs typeface="Open Sans 2 Bold Italics"/>
                <a:sym typeface="Open Sans 2 Bold Italics"/>
              </a:rPr>
              <a:t>word glosses</a:t>
            </a:r>
            <a:r>
              <a:rPr lang="en-US" sz="2800" i="true">
                <a:solidFill>
                  <a:srgbClr val="28292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?”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03364" y="3759696"/>
            <a:ext cx="16230600" cy="2137591"/>
            <a:chOff x="0" y="0"/>
            <a:chExt cx="6242421" cy="8223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42421" cy="822322"/>
            </a:xfrm>
            <a:custGeom>
              <a:avLst/>
              <a:gdLst/>
              <a:ahLst/>
              <a:cxnLst/>
              <a:rect r="r" b="b" t="t" l="l"/>
              <a:pathLst>
                <a:path h="822322" w="6242421">
                  <a:moveTo>
                    <a:pt x="6242421" y="7155"/>
                  </a:moveTo>
                  <a:lnTo>
                    <a:pt x="6242421" y="815167"/>
                  </a:lnTo>
                  <a:cubicBezTo>
                    <a:pt x="6242421" y="817064"/>
                    <a:pt x="6241667" y="818884"/>
                    <a:pt x="6240325" y="820226"/>
                  </a:cubicBezTo>
                  <a:cubicBezTo>
                    <a:pt x="6238983" y="821568"/>
                    <a:pt x="6237163" y="822322"/>
                    <a:pt x="6235266" y="822322"/>
                  </a:cubicBezTo>
                  <a:lnTo>
                    <a:pt x="7155" y="822322"/>
                  </a:lnTo>
                  <a:cubicBezTo>
                    <a:pt x="5257" y="822322"/>
                    <a:pt x="3437" y="821568"/>
                    <a:pt x="2096" y="820226"/>
                  </a:cubicBezTo>
                  <a:cubicBezTo>
                    <a:pt x="754" y="818884"/>
                    <a:pt x="0" y="817064"/>
                    <a:pt x="0" y="815167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lnTo>
                    <a:pt x="6235266" y="0"/>
                  </a:lnTo>
                  <a:cubicBezTo>
                    <a:pt x="6239217" y="0"/>
                    <a:pt x="6242421" y="3203"/>
                    <a:pt x="6242421" y="7155"/>
                  </a:cubicBezTo>
                  <a:close/>
                </a:path>
              </a:pathLst>
            </a:custGeom>
            <a:solidFill>
              <a:srgbClr val="1E3A8A"/>
            </a:solidFill>
            <a:ln w="3810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242421" cy="860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738399" y="4364942"/>
            <a:ext cx="1014793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W</a:t>
            </a:r>
            <a:r>
              <a:rPr lang="en-US" sz="27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ithin the teste</a:t>
            </a:r>
            <a:r>
              <a:rPr lang="en-US" sz="27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d vocabulary scale, with reproducible stability across two ASL benchmarks ethically grounded.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5441" y="4000859"/>
            <a:ext cx="2533392" cy="137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22"/>
              </a:lnSpc>
            </a:pPr>
            <a:r>
              <a:rPr lang="en-US" sz="8016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YES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4843864" y="4120814"/>
            <a:ext cx="0" cy="1415354"/>
          </a:xfrm>
          <a:prstGeom prst="line">
            <a:avLst/>
          </a:prstGeom>
          <a:ln cap="flat" w="9525">
            <a:solidFill>
              <a:srgbClr val="CBCBC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03364" y="7127005"/>
            <a:ext cx="16230600" cy="2076450"/>
            <a:chOff x="0" y="0"/>
            <a:chExt cx="6162582" cy="7884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62582" cy="788405"/>
            </a:xfrm>
            <a:custGeom>
              <a:avLst/>
              <a:gdLst/>
              <a:ahLst/>
              <a:cxnLst/>
              <a:rect r="r" b="b" t="t" l="l"/>
              <a:pathLst>
                <a:path h="788405" w="6162582">
                  <a:moveTo>
                    <a:pt x="7632" y="0"/>
                  </a:moveTo>
                  <a:lnTo>
                    <a:pt x="6154950" y="0"/>
                  </a:lnTo>
                  <a:cubicBezTo>
                    <a:pt x="6159165" y="0"/>
                    <a:pt x="6162582" y="3417"/>
                    <a:pt x="6162582" y="7632"/>
                  </a:cubicBezTo>
                  <a:lnTo>
                    <a:pt x="6162582" y="780773"/>
                  </a:lnTo>
                  <a:cubicBezTo>
                    <a:pt x="6162582" y="784988"/>
                    <a:pt x="6159165" y="788405"/>
                    <a:pt x="6154950" y="788405"/>
                  </a:cubicBezTo>
                  <a:lnTo>
                    <a:pt x="7632" y="788405"/>
                  </a:lnTo>
                  <a:cubicBezTo>
                    <a:pt x="3417" y="788405"/>
                    <a:pt x="0" y="784988"/>
                    <a:pt x="0" y="780773"/>
                  </a:cubicBezTo>
                  <a:lnTo>
                    <a:pt x="0" y="7632"/>
                  </a:lnTo>
                  <a:cubicBezTo>
                    <a:pt x="0" y="3417"/>
                    <a:pt x="3417" y="0"/>
                    <a:pt x="7632" y="0"/>
                  </a:cubicBezTo>
                  <a:close/>
                </a:path>
              </a:pathLst>
            </a:custGeom>
            <a:solidFill>
              <a:srgbClr val="44BD71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162582" cy="826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62817" y="7458085"/>
            <a:ext cx="14111694" cy="1419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799" spc="-6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Design, implement, and experimentally validate a research prototype for word-level ASL recognition from short video clips, using hand-landmark representations and temporal neural models.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803364" y="6331587"/>
            <a:ext cx="16230600" cy="0"/>
          </a:xfrm>
          <a:prstGeom prst="line">
            <a:avLst/>
          </a:prstGeom>
          <a:ln cap="flat" w="9525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887184" y="6555424"/>
            <a:ext cx="258289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E3A8A"/>
                </a:solidFill>
                <a:latin typeface="Open Sans 2"/>
                <a:ea typeface="Open Sans 2"/>
                <a:cs typeface="Open Sans 2"/>
                <a:sym typeface="Open Sans 2"/>
              </a:rPr>
              <a:t>GENERAL GOAL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0645" y="2513317"/>
            <a:ext cx="4262933" cy="2333235"/>
            <a:chOff x="0" y="0"/>
            <a:chExt cx="1438855" cy="787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12166" y="2534747"/>
            <a:ext cx="4262933" cy="2333235"/>
            <a:chOff x="0" y="0"/>
            <a:chExt cx="1438855" cy="787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75157" y="2490459"/>
            <a:ext cx="4262933" cy="2333235"/>
            <a:chOff x="0" y="0"/>
            <a:chExt cx="1438855" cy="787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49910" y="5255144"/>
            <a:ext cx="4262933" cy="2333235"/>
            <a:chOff x="0" y="0"/>
            <a:chExt cx="1438855" cy="787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11431" y="5255144"/>
            <a:ext cx="4262933" cy="2333235"/>
            <a:chOff x="0" y="0"/>
            <a:chExt cx="1438855" cy="7875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74422" y="5210856"/>
            <a:ext cx="4262933" cy="2333235"/>
            <a:chOff x="0" y="0"/>
            <a:chExt cx="1438855" cy="787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38855" cy="787530"/>
            </a:xfrm>
            <a:custGeom>
              <a:avLst/>
              <a:gdLst/>
              <a:ahLst/>
              <a:cxnLst/>
              <a:rect r="r" b="b" t="t" l="l"/>
              <a:pathLst>
                <a:path h="787530" w="1438855">
                  <a:moveTo>
                    <a:pt x="29058" y="0"/>
                  </a:moveTo>
                  <a:lnTo>
                    <a:pt x="1409798" y="0"/>
                  </a:lnTo>
                  <a:cubicBezTo>
                    <a:pt x="1417504" y="0"/>
                    <a:pt x="1424895" y="3061"/>
                    <a:pt x="1430344" y="8511"/>
                  </a:cubicBezTo>
                  <a:cubicBezTo>
                    <a:pt x="1435794" y="13960"/>
                    <a:pt x="1438855" y="21351"/>
                    <a:pt x="1438855" y="29058"/>
                  </a:cubicBezTo>
                  <a:lnTo>
                    <a:pt x="1438855" y="758473"/>
                  </a:lnTo>
                  <a:cubicBezTo>
                    <a:pt x="1438855" y="766179"/>
                    <a:pt x="1435794" y="773570"/>
                    <a:pt x="1430344" y="779019"/>
                  </a:cubicBezTo>
                  <a:cubicBezTo>
                    <a:pt x="1424895" y="784469"/>
                    <a:pt x="1417504" y="787530"/>
                    <a:pt x="1409798" y="787530"/>
                  </a:cubicBezTo>
                  <a:lnTo>
                    <a:pt x="29058" y="787530"/>
                  </a:lnTo>
                  <a:cubicBezTo>
                    <a:pt x="21351" y="787530"/>
                    <a:pt x="13960" y="784469"/>
                    <a:pt x="8511" y="779019"/>
                  </a:cubicBezTo>
                  <a:cubicBezTo>
                    <a:pt x="3061" y="773570"/>
                    <a:pt x="0" y="766179"/>
                    <a:pt x="0" y="758473"/>
                  </a:cubicBezTo>
                  <a:lnTo>
                    <a:pt x="0" y="29058"/>
                  </a:lnTo>
                  <a:cubicBezTo>
                    <a:pt x="0" y="21351"/>
                    <a:pt x="3061" y="13960"/>
                    <a:pt x="8511" y="8511"/>
                  </a:cubicBezTo>
                  <a:cubicBezTo>
                    <a:pt x="13960" y="3061"/>
                    <a:pt x="21351" y="0"/>
                    <a:pt x="290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438855" cy="825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601342" y="2903993"/>
            <a:ext cx="294312" cy="285750"/>
          </a:xfrm>
          <a:custGeom>
            <a:avLst/>
            <a:gdLst/>
            <a:ahLst/>
            <a:cxnLst/>
            <a:rect r="r" b="b" t="t" l="l"/>
            <a:pathLst>
              <a:path h="285750" w="294312">
                <a:moveTo>
                  <a:pt x="0" y="0"/>
                </a:moveTo>
                <a:lnTo>
                  <a:pt x="294312" y="0"/>
                </a:lnTo>
                <a:lnTo>
                  <a:pt x="29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922112" y="3288485"/>
            <a:ext cx="3304480" cy="7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Technical background analysed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22112" y="2913544"/>
            <a:ext cx="587123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SO1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22112" y="4129985"/>
            <a:ext cx="3304480" cy="35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St</a:t>
            </a: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ate of the Art chapter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83633" y="3288485"/>
            <a:ext cx="3491837" cy="75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Landmark representation defined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83633" y="2913544"/>
            <a:ext cx="489151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83633" y="4129985"/>
            <a:ext cx="3756601" cy="35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~69% WLASL ~84% MS-ASL50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46624" y="3282297"/>
            <a:ext cx="3304480" cy="3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5 architectures compared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46624" y="2913544"/>
            <a:ext cx="2869870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46624" y="4085697"/>
            <a:ext cx="3304480" cy="35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GRU + Attention winner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21377" y="5961102"/>
            <a:ext cx="3304480" cy="3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Statistical validation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22112" y="5589654"/>
            <a:ext cx="587858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21377" y="6764086"/>
            <a:ext cx="3304480" cy="35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63.85% ± 4.50% 5-Fol</a:t>
            </a: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d CV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82898" y="5961102"/>
            <a:ext cx="3304480" cy="3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Cross-dataset + scaling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382898" y="5589654"/>
            <a:ext cx="567528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82898" y="6764086"/>
            <a:ext cx="3304480" cy="723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MS-ASL50 70.20% WLASL 30→1500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45889" y="5964594"/>
            <a:ext cx="3304480" cy="3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249" spc="-56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Prototype + ethics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45889" y="5589654"/>
            <a:ext cx="518542" cy="33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</a:pPr>
            <a:r>
              <a:rPr lang="en-US" b="true" sz="2249" spc="-58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45889" y="6764086"/>
            <a:ext cx="3684225" cy="35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6"/>
              </a:lnSpc>
            </a:pPr>
            <a:r>
              <a:rPr lang="en-US" sz="2137" spc="-5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Mobile + FastAPI 7.6/10 ethics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03018" y="1325632"/>
            <a:ext cx="493094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0"/>
              </a:lnSpc>
            </a:pPr>
            <a:r>
              <a:rPr lang="en-US" b="true" sz="6000" spc="-156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Specific Goals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949124" y="711276"/>
            <a:ext cx="2084840" cy="35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91"/>
              </a:lnSpc>
            </a:pPr>
            <a:r>
              <a:rPr lang="en-US" sz="2199" spc="-54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CONCLUSIONS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8040569" y="2903993"/>
            <a:ext cx="294312" cy="285750"/>
          </a:xfrm>
          <a:custGeom>
            <a:avLst/>
            <a:gdLst/>
            <a:ahLst/>
            <a:cxnLst/>
            <a:rect r="r" b="b" t="t" l="l"/>
            <a:pathLst>
              <a:path h="285750" w="294312">
                <a:moveTo>
                  <a:pt x="0" y="0"/>
                </a:moveTo>
                <a:lnTo>
                  <a:pt x="294311" y="0"/>
                </a:lnTo>
                <a:lnTo>
                  <a:pt x="29431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503949" y="2904019"/>
            <a:ext cx="294312" cy="285750"/>
          </a:xfrm>
          <a:custGeom>
            <a:avLst/>
            <a:gdLst/>
            <a:ahLst/>
            <a:cxnLst/>
            <a:rect r="r" b="b" t="t" l="l"/>
            <a:pathLst>
              <a:path h="285750" w="294312">
                <a:moveTo>
                  <a:pt x="0" y="0"/>
                </a:moveTo>
                <a:lnTo>
                  <a:pt x="294312" y="0"/>
                </a:lnTo>
                <a:lnTo>
                  <a:pt x="29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3503949" y="5580102"/>
            <a:ext cx="294312" cy="285750"/>
          </a:xfrm>
          <a:custGeom>
            <a:avLst/>
            <a:gdLst/>
            <a:ahLst/>
            <a:cxnLst/>
            <a:rect r="r" b="b" t="t" l="l"/>
            <a:pathLst>
              <a:path h="285750" w="294312">
                <a:moveTo>
                  <a:pt x="0" y="0"/>
                </a:moveTo>
                <a:lnTo>
                  <a:pt x="294312" y="0"/>
                </a:lnTo>
                <a:lnTo>
                  <a:pt x="29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8040569" y="5580102"/>
            <a:ext cx="294312" cy="285750"/>
          </a:xfrm>
          <a:custGeom>
            <a:avLst/>
            <a:gdLst/>
            <a:ahLst/>
            <a:cxnLst/>
            <a:rect r="r" b="b" t="t" l="l"/>
            <a:pathLst>
              <a:path h="285750" w="294312">
                <a:moveTo>
                  <a:pt x="0" y="0"/>
                </a:moveTo>
                <a:lnTo>
                  <a:pt x="294311" y="0"/>
                </a:lnTo>
                <a:lnTo>
                  <a:pt x="294311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601342" y="5580102"/>
            <a:ext cx="294312" cy="285750"/>
          </a:xfrm>
          <a:custGeom>
            <a:avLst/>
            <a:gdLst/>
            <a:ahLst/>
            <a:cxnLst/>
            <a:rect r="r" b="b" t="t" l="l"/>
            <a:pathLst>
              <a:path h="285750" w="294312">
                <a:moveTo>
                  <a:pt x="0" y="0"/>
                </a:moveTo>
                <a:lnTo>
                  <a:pt x="294312" y="0"/>
                </a:lnTo>
                <a:lnTo>
                  <a:pt x="29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5441842" y="7978904"/>
            <a:ext cx="7375419" cy="1725828"/>
            <a:chOff x="0" y="0"/>
            <a:chExt cx="3052862" cy="71436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052862" cy="714361"/>
            </a:xfrm>
            <a:custGeom>
              <a:avLst/>
              <a:gdLst/>
              <a:ahLst/>
              <a:cxnLst/>
              <a:rect r="r" b="b" t="t" l="l"/>
              <a:pathLst>
                <a:path h="714361" w="3052862">
                  <a:moveTo>
                    <a:pt x="16795" y="0"/>
                  </a:moveTo>
                  <a:lnTo>
                    <a:pt x="3036067" y="0"/>
                  </a:lnTo>
                  <a:cubicBezTo>
                    <a:pt x="3045343" y="0"/>
                    <a:pt x="3052862" y="7519"/>
                    <a:pt x="3052862" y="16795"/>
                  </a:cubicBezTo>
                  <a:lnTo>
                    <a:pt x="3052862" y="697566"/>
                  </a:lnTo>
                  <a:cubicBezTo>
                    <a:pt x="3052862" y="706842"/>
                    <a:pt x="3045343" y="714361"/>
                    <a:pt x="3036067" y="714361"/>
                  </a:cubicBezTo>
                  <a:lnTo>
                    <a:pt x="16795" y="714361"/>
                  </a:lnTo>
                  <a:cubicBezTo>
                    <a:pt x="7519" y="714361"/>
                    <a:pt x="0" y="706842"/>
                    <a:pt x="0" y="697566"/>
                  </a:cubicBezTo>
                  <a:lnTo>
                    <a:pt x="0" y="16795"/>
                  </a:lnTo>
                  <a:cubicBezTo>
                    <a:pt x="0" y="7519"/>
                    <a:pt x="7519" y="0"/>
                    <a:pt x="16795" y="0"/>
                  </a:cubicBezTo>
                  <a:close/>
                </a:path>
              </a:pathLst>
            </a:custGeom>
            <a:solidFill>
              <a:srgbClr val="FAEEDA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052862" cy="752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5744748" y="8580313"/>
            <a:ext cx="3371938" cy="29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1834" spc="-4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Real-</a:t>
            </a:r>
            <a:r>
              <a:rPr lang="en-US" sz="1834" spc="-4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time mobile app deployed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744748" y="8103253"/>
            <a:ext cx="422836" cy="279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1"/>
              </a:lnSpc>
            </a:pPr>
            <a:r>
              <a:rPr lang="en-US" b="true" sz="1834" spc="-47">
                <a:solidFill>
                  <a:srgbClr val="BF7D0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S07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44748" y="9114963"/>
            <a:ext cx="6048992" cy="28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742" spc="-43">
                <a:solidFill>
                  <a:srgbClr val="BF7D0C"/>
                </a:solidFill>
                <a:latin typeface="Open Sans 1"/>
                <a:ea typeface="Open Sans 1"/>
                <a:cs typeface="Open Sans 1"/>
                <a:sym typeface="Open Sans 1"/>
              </a:rPr>
              <a:t>Expo + React Native &amp; FastAPI backend / production-ready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6281351" y="8103231"/>
            <a:ext cx="287990" cy="279612"/>
          </a:xfrm>
          <a:custGeom>
            <a:avLst/>
            <a:gdLst/>
            <a:ahLst/>
            <a:cxnLst/>
            <a:rect r="r" b="b" t="t" l="l"/>
            <a:pathLst>
              <a:path h="279612" w="287990">
                <a:moveTo>
                  <a:pt x="0" y="0"/>
                </a:moveTo>
                <a:lnTo>
                  <a:pt x="287990" y="0"/>
                </a:lnTo>
                <a:lnTo>
                  <a:pt x="287990" y="279612"/>
                </a:lnTo>
                <a:lnTo>
                  <a:pt x="0" y="2796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6823051" y="8131304"/>
            <a:ext cx="1914574" cy="57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742" spc="-43">
                <a:solidFill>
                  <a:srgbClr val="8A8E95"/>
                </a:solidFill>
                <a:latin typeface="Open Sans 1"/>
                <a:ea typeface="Open Sans 1"/>
                <a:cs typeface="Open Sans 1"/>
                <a:sym typeface="Open Sans 1"/>
              </a:rPr>
              <a:t>EXTRA DELIVERED</a:t>
            </a:r>
          </a:p>
          <a:p>
            <a:pPr algn="l">
              <a:lnSpc>
                <a:spcPts val="2370"/>
              </a:lnSpc>
            </a:pPr>
          </a:p>
        </p:txBody>
      </p:sp>
      <p:grpSp>
        <p:nvGrpSpPr>
          <p:cNvPr name="Group 55" id="55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50726" y="4824563"/>
            <a:ext cx="7336950" cy="5616102"/>
          </a:xfrm>
          <a:custGeom>
            <a:avLst/>
            <a:gdLst/>
            <a:ahLst/>
            <a:cxnLst/>
            <a:rect r="r" b="b" t="t" l="l"/>
            <a:pathLst>
              <a:path h="5616102" w="7336950">
                <a:moveTo>
                  <a:pt x="0" y="0"/>
                </a:moveTo>
                <a:lnTo>
                  <a:pt x="7336951" y="0"/>
                </a:lnTo>
                <a:lnTo>
                  <a:pt x="7336951" y="5616102"/>
                </a:lnTo>
                <a:lnTo>
                  <a:pt x="0" y="56161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03364" y="484440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611803" y="787026"/>
            <a:ext cx="442216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299"/>
              </a:lnSpc>
            </a:pPr>
            <a:r>
              <a:rPr lang="en-US" b="true" sz="6999" spc="-181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3364" y="786763"/>
            <a:ext cx="372870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8A8E95"/>
                </a:solidFill>
                <a:latin typeface="Open Sans 2"/>
                <a:ea typeface="Open Sans 2"/>
                <a:cs typeface="Open Sans 2"/>
                <a:sym typeface="Open Sans 2"/>
              </a:rPr>
              <a:t>FROM THIS RESEARCH 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3364" y="1213492"/>
            <a:ext cx="553413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1E3A8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three fr</a:t>
            </a:r>
            <a:r>
              <a:rPr lang="en-US" sz="3000" i="true">
                <a:solidFill>
                  <a:srgbClr val="1E3A8A"/>
                </a:solidFill>
                <a:latin typeface="Open Sans 2 Italics"/>
                <a:ea typeface="Open Sans 2 Italics"/>
                <a:cs typeface="Open Sans 2 Italics"/>
                <a:sym typeface="Open Sans 2 Italics"/>
              </a:rPr>
              <a:t>ontiers worth pursuing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03364" y="2869908"/>
            <a:ext cx="16230600" cy="1827529"/>
            <a:chOff x="0" y="0"/>
            <a:chExt cx="21640800" cy="24367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640800" cy="2436706"/>
              <a:chOff x="0" y="0"/>
              <a:chExt cx="4274726" cy="48132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274726" cy="481325"/>
              </a:xfrm>
              <a:custGeom>
                <a:avLst/>
                <a:gdLst/>
                <a:ahLst/>
                <a:cxnLst/>
                <a:rect r="r" b="b" t="t" l="l"/>
                <a:pathLst>
                  <a:path h="481325" w="4274726">
                    <a:moveTo>
                      <a:pt x="6678" y="0"/>
                    </a:moveTo>
                    <a:lnTo>
                      <a:pt x="4268048" y="0"/>
                    </a:lnTo>
                    <a:cubicBezTo>
                      <a:pt x="4271736" y="0"/>
                      <a:pt x="4274726" y="2990"/>
                      <a:pt x="4274726" y="6678"/>
                    </a:cubicBezTo>
                    <a:lnTo>
                      <a:pt x="4274726" y="474647"/>
                    </a:lnTo>
                    <a:cubicBezTo>
                      <a:pt x="4274726" y="478335"/>
                      <a:pt x="4271736" y="481325"/>
                      <a:pt x="4268048" y="481325"/>
                    </a:cubicBezTo>
                    <a:lnTo>
                      <a:pt x="6678" y="481325"/>
                    </a:lnTo>
                    <a:cubicBezTo>
                      <a:pt x="2990" y="481325"/>
                      <a:pt x="0" y="478335"/>
                      <a:pt x="0" y="474647"/>
                    </a:cubicBezTo>
                    <a:lnTo>
                      <a:pt x="0" y="6678"/>
                    </a:lnTo>
                    <a:cubicBezTo>
                      <a:pt x="0" y="2990"/>
                      <a:pt x="2990" y="0"/>
                      <a:pt x="6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E3A8A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274726" cy="519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917383" y="205638"/>
              <a:ext cx="9124364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599" spc="-67">
                  <a:solidFill>
                    <a:srgbClr val="1E3A8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Beyond word-level &amp; co</a:t>
              </a:r>
              <a:r>
                <a:rPr lang="en-US" sz="2599" spc="-67">
                  <a:solidFill>
                    <a:srgbClr val="1E3A8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ntinuous translation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803138" y="558265"/>
              <a:ext cx="1320176" cy="1320176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3A8A"/>
              </a:solidFill>
              <a:ln w="19050" cap="sq">
                <a:solidFill>
                  <a:srgbClr val="1E3A8A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803138" y="933800"/>
              <a:ext cx="1320176" cy="683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0"/>
                </a:lnSpc>
              </a:pPr>
              <a:r>
                <a:rPr lang="en-US" sz="3956" spc="-102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917383" y="1061380"/>
              <a:ext cx="16089629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pc="-62">
                  <a:solidFill>
                    <a:srgbClr val="28292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Move from isolated glosses to full ASL sentences, the open frontier of sign language recognition.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-5400000">
              <a:off x="19881732" y="1047248"/>
              <a:ext cx="1569336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8A8E95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TECHNICAL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3364" y="4954819"/>
            <a:ext cx="16230600" cy="1874741"/>
            <a:chOff x="0" y="0"/>
            <a:chExt cx="21640800" cy="249965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640800" cy="2436706"/>
              <a:chOff x="0" y="0"/>
              <a:chExt cx="4274726" cy="48132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274726" cy="481325"/>
              </a:xfrm>
              <a:custGeom>
                <a:avLst/>
                <a:gdLst/>
                <a:ahLst/>
                <a:cxnLst/>
                <a:rect r="r" b="b" t="t" l="l"/>
                <a:pathLst>
                  <a:path h="481325" w="4274726">
                    <a:moveTo>
                      <a:pt x="6678" y="0"/>
                    </a:moveTo>
                    <a:lnTo>
                      <a:pt x="4268048" y="0"/>
                    </a:lnTo>
                    <a:cubicBezTo>
                      <a:pt x="4271736" y="0"/>
                      <a:pt x="4274726" y="2990"/>
                      <a:pt x="4274726" y="6678"/>
                    </a:cubicBezTo>
                    <a:lnTo>
                      <a:pt x="4274726" y="474647"/>
                    </a:lnTo>
                    <a:cubicBezTo>
                      <a:pt x="4274726" y="478335"/>
                      <a:pt x="4271736" y="481325"/>
                      <a:pt x="4268048" y="481325"/>
                    </a:cubicBezTo>
                    <a:lnTo>
                      <a:pt x="6678" y="481325"/>
                    </a:lnTo>
                    <a:cubicBezTo>
                      <a:pt x="2990" y="481325"/>
                      <a:pt x="0" y="478335"/>
                      <a:pt x="0" y="474647"/>
                    </a:cubicBezTo>
                    <a:lnTo>
                      <a:pt x="0" y="6678"/>
                    </a:lnTo>
                    <a:cubicBezTo>
                      <a:pt x="0" y="2990"/>
                      <a:pt x="2990" y="0"/>
                      <a:pt x="6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E3A8A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4274726" cy="519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917383" y="205638"/>
              <a:ext cx="9124364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599" spc="-67">
                  <a:solidFill>
                    <a:srgbClr val="1E3A8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Cross-l</a:t>
              </a:r>
              <a:r>
                <a:rPr lang="en-US" sz="2599" spc="-67">
                  <a:solidFill>
                    <a:srgbClr val="1E3A8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ingual sign transfer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803138" y="558265"/>
              <a:ext cx="1320176" cy="1320176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3A8A"/>
              </a:solidFill>
              <a:ln w="19050" cap="sq">
                <a:solidFill>
                  <a:srgbClr val="1E3A8A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03138" y="933800"/>
              <a:ext cx="1320176" cy="683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0"/>
                </a:lnSpc>
              </a:pPr>
              <a:r>
                <a:rPr lang="en-US" sz="3956" spc="-102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02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917383" y="1061380"/>
              <a:ext cx="16089629" cy="1438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pc="-62">
                  <a:solidFill>
                    <a:srgbClr val="28292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Transf</a:t>
              </a:r>
              <a:r>
                <a:rPr lang="en-US" sz="2400" spc="-62">
                  <a:solidFill>
                    <a:srgbClr val="28292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er the landmark-based pipeline from ASL to LSE, BSL, and beyond, since hand geometry is universal, vocabularies are not.</a:t>
              </a:r>
            </a:p>
            <a:p>
              <a:pPr algn="l" marL="0" indent="0" lvl="0">
                <a:lnSpc>
                  <a:spcPts val="2879"/>
                </a:lnSpc>
              </a:pPr>
            </a:p>
          </p:txBody>
        </p:sp>
        <p:sp>
          <p:nvSpPr>
            <p:cNvPr name="TextBox 28" id="28"/>
            <p:cNvSpPr txBox="true"/>
            <p:nvPr/>
          </p:nvSpPr>
          <p:spPr>
            <a:xfrm rot="-5400000">
              <a:off x="19881732" y="1047248"/>
              <a:ext cx="1569336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8A8E95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S</a:t>
              </a:r>
              <a:r>
                <a:rPr lang="en-US" sz="1599">
                  <a:solidFill>
                    <a:srgbClr val="8A8E95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CIENTIFIC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3364" y="7086942"/>
            <a:ext cx="16230600" cy="1827529"/>
            <a:chOff x="0" y="0"/>
            <a:chExt cx="21640800" cy="2436706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1640800" cy="2436706"/>
              <a:chOff x="0" y="0"/>
              <a:chExt cx="4274726" cy="48132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274726" cy="481325"/>
              </a:xfrm>
              <a:custGeom>
                <a:avLst/>
                <a:gdLst/>
                <a:ahLst/>
                <a:cxnLst/>
                <a:rect r="r" b="b" t="t" l="l"/>
                <a:pathLst>
                  <a:path h="481325" w="4274726">
                    <a:moveTo>
                      <a:pt x="6678" y="0"/>
                    </a:moveTo>
                    <a:lnTo>
                      <a:pt x="4268048" y="0"/>
                    </a:lnTo>
                    <a:cubicBezTo>
                      <a:pt x="4271736" y="0"/>
                      <a:pt x="4274726" y="2990"/>
                      <a:pt x="4274726" y="6678"/>
                    </a:cubicBezTo>
                    <a:lnTo>
                      <a:pt x="4274726" y="474647"/>
                    </a:lnTo>
                    <a:cubicBezTo>
                      <a:pt x="4274726" y="478335"/>
                      <a:pt x="4271736" y="481325"/>
                      <a:pt x="4268048" y="481325"/>
                    </a:cubicBezTo>
                    <a:lnTo>
                      <a:pt x="6678" y="481325"/>
                    </a:lnTo>
                    <a:cubicBezTo>
                      <a:pt x="2990" y="481325"/>
                      <a:pt x="0" y="478335"/>
                      <a:pt x="0" y="474647"/>
                    </a:cubicBezTo>
                    <a:lnTo>
                      <a:pt x="0" y="6678"/>
                    </a:lnTo>
                    <a:cubicBezTo>
                      <a:pt x="0" y="2990"/>
                      <a:pt x="2990" y="0"/>
                      <a:pt x="66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1E3A8A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274726" cy="519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2917383" y="205638"/>
              <a:ext cx="9124364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599" spc="-67">
                  <a:solidFill>
                    <a:srgbClr val="1E3A8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Privacy-f</a:t>
              </a:r>
              <a:r>
                <a:rPr lang="en-US" sz="2599" spc="-67">
                  <a:solidFill>
                    <a:srgbClr val="1E3A8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irst edge deployment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803138" y="558265"/>
              <a:ext cx="1320176" cy="1320176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3A8A"/>
              </a:solidFill>
              <a:ln w="19050" cap="sq">
                <a:solidFill>
                  <a:srgbClr val="1E3A8A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803138" y="933800"/>
              <a:ext cx="1320176" cy="683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60"/>
                </a:lnSpc>
              </a:pPr>
              <a:r>
                <a:rPr lang="en-US" sz="3956" spc="-102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03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917383" y="1061380"/>
              <a:ext cx="16089629" cy="955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pc="-62">
                  <a:solidFill>
                    <a:srgbClr val="28292A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Move the entire pipeline on-device so only landmarks ever leave the phone, closing the privacy gap identified in the ethical analysis.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-5400000">
              <a:off x="20032524" y="1047008"/>
              <a:ext cx="1267755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</a:pPr>
              <a:r>
                <a:rPr lang="en-US" sz="1599">
                  <a:solidFill>
                    <a:srgbClr val="8A8E95"/>
                  </a:solidFill>
                  <a:latin typeface="Open Sans 2"/>
                  <a:ea typeface="Open Sans 2"/>
                  <a:cs typeface="Open Sans 2"/>
                  <a:sym typeface="Open Sans 2"/>
                </a:rPr>
                <a:t>APPLIED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7456115" y="9643432"/>
            <a:ext cx="436534" cy="436534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E3A8A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456115" y="9786963"/>
            <a:ext cx="436534" cy="206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88"/>
              </a:lnSpc>
            </a:pPr>
            <a:r>
              <a:rPr lang="en-US" b="true" sz="1764" spc="-45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100000">
              <a:srgbClr val="EBF1FA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42696" y="2899824"/>
            <a:ext cx="10751259" cy="8229600"/>
          </a:xfrm>
          <a:custGeom>
            <a:avLst/>
            <a:gdLst/>
            <a:ahLst/>
            <a:cxnLst/>
            <a:rect r="r" b="b" t="t" l="l"/>
            <a:pathLst>
              <a:path h="8229600" w="10751259">
                <a:moveTo>
                  <a:pt x="0" y="0"/>
                </a:moveTo>
                <a:lnTo>
                  <a:pt x="10751259" y="0"/>
                </a:lnTo>
                <a:lnTo>
                  <a:pt x="1075125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141191"/>
            <a:ext cx="16986350" cy="260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46"/>
              </a:lnSpc>
            </a:pPr>
            <a:r>
              <a:rPr lang="en-US" b="true" sz="21051" spc="-547">
                <a:solidFill>
                  <a:srgbClr val="1E3A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 You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487272"/>
            <a:ext cx="16230600" cy="0"/>
          </a:xfrm>
          <a:prstGeom prst="line">
            <a:avLst/>
          </a:prstGeom>
          <a:ln cap="flat" w="38100">
            <a:solidFill>
              <a:srgbClr val="1E3A8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19175"/>
            <a:ext cx="46407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b="true" sz="2599" spc="-67">
                <a:solidFill>
                  <a:srgbClr val="1E3A8A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Author: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517120"/>
            <a:ext cx="464077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1E3A8A"/>
                </a:solidFill>
                <a:latin typeface="Open Sans 1"/>
                <a:ea typeface="Open Sans 1"/>
                <a:cs typeface="Open Sans 1"/>
                <a:sym typeface="Open Sans 1"/>
              </a:rPr>
              <a:t>Francisco Sandoval Hernández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DAHJF49EqBw</dc:identifier>
  <dcterms:modified xsi:type="dcterms:W3CDTF">2011-08-01T06:04:30Z</dcterms:modified>
  <cp:revision>1</cp:revision>
  <dc:title>Word Level ASL Recognition from Hand Landmarks</dc:title>
</cp:coreProperties>
</file>